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9"/>
    <p:sldId id="319" r:id="rId70"/>
    <p:sldId id="320" r:id="rId71"/>
    <p:sldId id="321" r:id="rId72"/>
    <p:sldId id="322" r:id="rId7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V6 BLUEPRINT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730352"/>
            <a:ext cx="566928" cy="640080"/>
          </a:xfrm>
          <a:prstGeom prst="hexagon">
            <a:avLst/>
          </a:prstGeom>
          <a:solidFill>
            <a:srgbClr val="5B5FEF"/>
          </a:solidFill>
          <a:ln w="12700">
            <a:solidFill>
              <a:srgbClr val="7C72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6656" y="84008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748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OmniStackAI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738360" y="530352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793224" y="58521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WORKING BRAND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1572768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Intent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Production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13232" y="3310128"/>
            <a:ext cx="5623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6C2DA"/>
                </a:solidFill>
              </a:rPr>
              <a:t>A cost-aware, production-grade AI software engineering factory for web, backend, cross-platform mobile and true native apps.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52360" y="1417320"/>
            <a:ext cx="3401568" cy="548640"/>
          </a:xfrm>
          <a:prstGeom prst="roundRect">
            <a:avLst>
              <a:gd name="adj" fmla="val 11667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525512" y="152704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Natural language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43800" y="1856232"/>
            <a:ext cx="32186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idea / requirement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153144" y="1975104"/>
            <a:ext cx="0" cy="73152"/>
          </a:xfrm>
          <a:prstGeom prst="line">
            <a:avLst/>
          </a:prstGeom>
          <a:noFill/>
          <a:ln w="16510">
            <a:solidFill>
              <a:srgbClr val="6576A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52360" y="2084832"/>
            <a:ext cx="3401568" cy="548640"/>
          </a:xfrm>
          <a:prstGeom prst="roundRect">
            <a:avLst>
              <a:gd name="adj" fmla="val 11667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25512" y="219456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Application IR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543800" y="2523744"/>
            <a:ext cx="32186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source of product truth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53144" y="2642616"/>
            <a:ext cx="0" cy="73152"/>
          </a:xfrm>
          <a:prstGeom prst="line">
            <a:avLst/>
          </a:prstGeom>
          <a:noFill/>
          <a:ln w="16510">
            <a:solidFill>
              <a:srgbClr val="6576A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52360" y="2752344"/>
            <a:ext cx="3401568" cy="548640"/>
          </a:xfrm>
          <a:prstGeom prst="roundRect">
            <a:avLst>
              <a:gd name="adj" fmla="val 11667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25512" y="2862072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Agents + Context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43800" y="3191256"/>
            <a:ext cx="32186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cost-controlled reasoning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153144" y="3310128"/>
            <a:ext cx="0" cy="73152"/>
          </a:xfrm>
          <a:prstGeom prst="line">
            <a:avLst/>
          </a:prstGeom>
          <a:noFill/>
          <a:ln w="16510">
            <a:solidFill>
              <a:srgbClr val="6576A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452360" y="3419856"/>
            <a:ext cx="3401568" cy="548640"/>
          </a:xfrm>
          <a:prstGeom prst="roundRect">
            <a:avLst>
              <a:gd name="adj" fmla="val 11667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525512" y="3529584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Real toolchains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43800" y="3858768"/>
            <a:ext cx="32186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browser • Linux • Android • macOS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153144" y="3977640"/>
            <a:ext cx="0" cy="73152"/>
          </a:xfrm>
          <a:prstGeom prst="line">
            <a:avLst/>
          </a:prstGeom>
          <a:noFill/>
          <a:ln w="16510">
            <a:solidFill>
              <a:srgbClr val="6576A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452360" y="4087368"/>
            <a:ext cx="3401568" cy="548640"/>
          </a:xfrm>
          <a:prstGeom prst="roundRect">
            <a:avLst>
              <a:gd name="adj" fmla="val 11667"/>
            </a:avLst>
          </a:prstGeom>
          <a:solidFill>
            <a:srgbClr val="151F38"/>
          </a:solidFill>
          <a:ln w="1778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525512" y="419709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Git + Release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543800" y="4526280"/>
            <a:ext cx="32186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client-owned source + immutable artifacts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13232" y="5687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C2F2"/>
                </a:solidFill>
              </a:rPr>
              <a:t>Investor + Developer Architecture Deck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" y="6016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9A5"/>
                </a:solidFill>
              </a:rPr>
              <a:t>September 2026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V6 • Working brand — legal/trademark/domain clearance required before launch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VISION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VISION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north star: AI that engineers software — not just generates code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OmniStackAI treats the model as an engineer inside a governed software factory.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187452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85800" y="1901952"/>
            <a:ext cx="64008" cy="3191256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9536" y="2020824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 • Speed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9536" y="2423160"/>
            <a:ext cx="30815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Natural language → fast plan → instant browser feedback → targeted implementation.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70832" y="187452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398264" y="1901952"/>
            <a:ext cx="64008" cy="319125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0" y="2020824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 • Trust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30815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Application IR, impact boundaries, real compilers/tests, Git and approvals are the source of truth.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83296" y="187452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10728" y="1901952"/>
            <a:ext cx="64008" cy="3191256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84464" y="2020824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 • Economics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84464" y="2423160"/>
            <a:ext cx="30815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Use the cheapest proof and smallest model/context capable of verifying the change.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74520" y="5413248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DE5F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011680" y="552297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5FEF"/>
                </a:solidFill>
              </a:rPr>
              <a:t>Web → Native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011680" y="6016752"/>
            <a:ext cx="18288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one product model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029200" y="5413248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DE5F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166360" y="552297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C2F2"/>
                </a:solidFill>
              </a:rPr>
              <a:t>Browser First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166360" y="6016752"/>
            <a:ext cx="18288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before QR/cloud device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183880" y="5413248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DE5F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321040" y="552297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Customer Owns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321040" y="6016752"/>
            <a:ext cx="18288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Git + handover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PROBLEM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AI builders optimize the first 20 minutes — not the next 2 years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The hard problem begins after the prototype becomes a real product.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187452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9224" y="1901952"/>
            <a:ext cx="64008" cy="14264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020824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Context decay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423160"/>
            <a:ext cx="30540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5C0D8"/>
                </a:solidFill>
              </a:rPr>
              <a:t>Old chat grows; relevant architecture gets buried.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4389120" y="187452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16552" y="1901952"/>
            <a:ext cx="64008" cy="142646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90288" y="2020824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Preview illusion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90288" y="2423160"/>
            <a:ext cx="30540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5C0D8"/>
                </a:solidFill>
              </a:rPr>
              <a:t>A browser mock can look correct while native binaries fail.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156448" y="187452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83880" y="1901952"/>
            <a:ext cx="64008" cy="14264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57616" y="2020824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Unbounded edits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57616" y="2423160"/>
            <a:ext cx="30540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5C0D8"/>
                </a:solidFill>
              </a:rPr>
              <a:t>Agents can rewrite unrelated code and create regressions.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621792" y="3721608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9224" y="3749040"/>
            <a:ext cx="64008" cy="14264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" y="3867912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Compute waste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270248"/>
            <a:ext cx="30540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5C0D8"/>
                </a:solidFill>
              </a:rPr>
              <a:t>Macs, emulators and premium models are expensive defaults.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4389120" y="3721608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416552" y="3749040"/>
            <a:ext cx="64008" cy="1426464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90288" y="3867912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Lock-in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90288" y="4270248"/>
            <a:ext cx="30540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5C0D8"/>
                </a:solidFill>
              </a:rPr>
              <a:t>Generated source, deployment and decisions can become platform-dependent.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8156448" y="3721608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183880" y="3749040"/>
            <a:ext cx="64008" cy="1426464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357616" y="3867912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Production risk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4270248"/>
            <a:ext cx="30540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5C0D8"/>
                </a:solidFill>
              </a:rPr>
              <a:t>Signing, secrets, migrations and deployments need deterministic gates.</a:t>
            </a:r>
            <a:endParaRPr lang="en-US" sz="1140" dirty="0"/>
          </a:p>
        </p:txBody>
      </p:sp>
      <p:sp>
        <p:nvSpPr>
          <p:cNvPr id="34" name="Text 32"/>
          <p:cNvSpPr/>
          <p:nvPr/>
        </p:nvSpPr>
        <p:spPr>
          <a:xfrm>
            <a:off x="1051560" y="57150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OmniStackAI is designed around the lifecycle cost of verified change, not just the cost of code generation.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MARKET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MARKET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market already proves demand — but the architectures optimize different jobs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Publicly documented positioning, summarized for strategy.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88720" y="4736592"/>
            <a:ext cx="10058400" cy="0"/>
          </a:xfrm>
          <a:prstGeom prst="line">
            <a:avLst/>
          </a:prstGeom>
          <a:noFill/>
          <a:ln w="15240">
            <a:solidFill>
              <a:srgbClr val="9EACC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88720" y="4736592"/>
            <a:ext cx="0" cy="-2606040"/>
          </a:xfrm>
          <a:prstGeom prst="line">
            <a:avLst/>
          </a:prstGeom>
          <a:noFill/>
          <a:ln w="15240">
            <a:solidFill>
              <a:srgbClr val="9EACC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74720" y="503834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Prototype / web focus → broader product engineering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2377440"/>
            <a:ext cx="310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Engineering governance / lifecycle depth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67128" y="4178808"/>
            <a:ext cx="329184" cy="32918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737360" y="45445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9F43"/>
                </a:solidFill>
              </a:rPr>
              <a:t>Bolt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721608" y="3355848"/>
            <a:ext cx="329184" cy="32918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91840" y="37216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C4899"/>
                </a:solidFill>
              </a:rPr>
              <a:t>Lovable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5458968" y="3493008"/>
            <a:ext cx="329184" cy="329184"/>
          </a:xfrm>
          <a:prstGeom prst="ellipse">
            <a:avLst/>
          </a:prstGeom>
          <a:solidFill>
            <a:srgbClr val="15C7A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29200" y="38587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C7A3"/>
                </a:solidFill>
              </a:rPr>
              <a:t>Replit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150608" y="2487168"/>
            <a:ext cx="329184" cy="329184"/>
          </a:xfrm>
          <a:prstGeom prst="ellipse">
            <a:avLst/>
          </a:prstGeom>
          <a:solidFill>
            <a:srgbClr val="27C2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720840" y="28529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7C2F2"/>
                </a:solidFill>
              </a:rPr>
              <a:t>Emergent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8293608" y="3172968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863840" y="35387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Cursor/Windsurf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9802368" y="1892808"/>
            <a:ext cx="329184" cy="329184"/>
          </a:xfrm>
          <a:prstGeom prst="ellipse">
            <a:avLst/>
          </a:prstGeom>
          <a:solidFill>
            <a:srgbClr val="5B5FE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372600" y="22585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B5FEF"/>
                </a:solidFill>
              </a:rPr>
              <a:t>OmniStackAI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868680" y="5376672"/>
            <a:ext cx="3337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96112" y="5404104"/>
            <a:ext cx="64008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69848" y="552297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Builder proof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69848" y="5925312"/>
            <a:ext cx="2990088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The category is validated.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4425696" y="5376672"/>
            <a:ext cx="3337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453128" y="5404104"/>
            <a:ext cx="64008" cy="658368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626864" y="552297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Open gap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26864" y="5925312"/>
            <a:ext cx="2990088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Native breadth + durable project memory + cost governance.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7982712" y="5376672"/>
            <a:ext cx="3337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010144" y="5404104"/>
            <a:ext cx="64008" cy="658368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183880" y="552297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Our position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83880" y="5925312"/>
            <a:ext cx="2990088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Production engineering factory, not “one stack for all.”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530352" y="614476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8B99AC"/>
                </a:solidFill>
              </a:rPr>
              <a:t>Sources: Emergent, Lovable, Bolt, Replit, Cursor and Windsurf official public documentation; revalidate before external marketing.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STRATEGY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OmniStackAI is designed to do differently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Broader target support without paying the cost of every target on every change.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810512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1837944"/>
            <a:ext cx="64008" cy="1517904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68096" y="1956816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Application IR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768096" y="2359152"/>
            <a:ext cx="22585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5C0D8"/>
                </a:solidFill>
              </a:rPr>
              <a:t>One product truth across frameworks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10712" y="1810512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438144" y="1837944"/>
            <a:ext cx="64008" cy="1517904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11880" y="1956816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Framework adapters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3611880" y="2359152"/>
            <a:ext cx="22585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5C0D8"/>
                </a:solidFill>
              </a:rPr>
              <a:t>Expo/RN • Flutter • Kotlin • Swift • Next.js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54496" y="1810512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81928" y="1837944"/>
            <a:ext cx="64008" cy="1517904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55664" y="1956816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Browser-first verification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6455664" y="2359152"/>
            <a:ext cx="22585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5C0D8"/>
                </a:solidFill>
              </a:rPr>
              <a:t>Instant feedback before QR/cloud device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98280" y="1810512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125712" y="1837944"/>
            <a:ext cx="64008" cy="15179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299448" y="1956816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Project memory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9299448" y="2359152"/>
            <a:ext cx="22585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5C0D8"/>
                </a:solidFill>
              </a:rPr>
              <a:t>Evidence-backed context independent of chat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3794760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94360" y="3822192"/>
            <a:ext cx="64008" cy="151790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68096" y="3941064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Change impact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768096" y="4343400"/>
            <a:ext cx="22585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5C0D8"/>
                </a:solidFill>
              </a:rPr>
              <a:t>Predict and enforce blast radius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10712" y="3794760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438144" y="3822192"/>
            <a:ext cx="64008" cy="15179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611880" y="3941064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Provider interfaces</a:t>
            </a:r>
            <a:endParaRPr lang="en-US" sz="1240" dirty="0"/>
          </a:p>
        </p:txBody>
      </p:sp>
      <p:sp>
        <p:nvSpPr>
          <p:cNvPr id="33" name="Text 31"/>
          <p:cNvSpPr/>
          <p:nvPr/>
        </p:nvSpPr>
        <p:spPr>
          <a:xfrm>
            <a:off x="3611880" y="4343400"/>
            <a:ext cx="22585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5C0D8"/>
                </a:solidFill>
              </a:rPr>
              <a:t>Model/runtime/build/Git/signing portability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54496" y="3794760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281928" y="3822192"/>
            <a:ext cx="64008" cy="15179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55664" y="3941064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Client ownership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6455664" y="4343400"/>
            <a:ext cx="22585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5C0D8"/>
                </a:solidFill>
              </a:rPr>
              <a:t>Normal repositories, PRs, docs and handover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98280" y="3794760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125712" y="3822192"/>
            <a:ext cx="64008" cy="151790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299448" y="3941064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Unit economics</a:t>
            </a:r>
            <a:endParaRPr lang="en-US" sz="1240" dirty="0"/>
          </a:p>
        </p:txBody>
      </p:sp>
      <p:sp>
        <p:nvSpPr>
          <p:cNvPr id="41" name="Text 39"/>
          <p:cNvSpPr/>
          <p:nvPr/>
        </p:nvSpPr>
        <p:spPr>
          <a:xfrm>
            <a:off x="9299448" y="4343400"/>
            <a:ext cx="22585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5C0D8"/>
                </a:solidFill>
              </a:rPr>
              <a:t>Cost per successful verified task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" y="580644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principle: “use the strongest proof required — never the most expensive proof by default.”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PRODUCT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LIFECYCLE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→ production → maintenance: one continuous engineering system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960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6072" y="230428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Idea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6334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natural language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463040" y="2651760"/>
            <a:ext cx="109728" cy="0"/>
          </a:xfrm>
          <a:prstGeom prst="line">
            <a:avLst/>
          </a:prstGeom>
          <a:noFill/>
          <a:ln w="14605">
            <a:solidFill>
              <a:srgbClr val="AAB6C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554480" y="2194560"/>
            <a:ext cx="960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627632" y="230428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Spec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645920" y="26334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requirements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14600" y="2651760"/>
            <a:ext cx="109728" cy="0"/>
          </a:xfrm>
          <a:prstGeom prst="line">
            <a:avLst/>
          </a:prstGeom>
          <a:noFill/>
          <a:ln w="14605">
            <a:solidFill>
              <a:srgbClr val="AAB6C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606040" y="2194560"/>
            <a:ext cx="960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679192" y="230428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97480" y="26334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product truth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66160" y="2651760"/>
            <a:ext cx="109728" cy="0"/>
          </a:xfrm>
          <a:prstGeom prst="line">
            <a:avLst/>
          </a:prstGeom>
          <a:noFill/>
          <a:ln w="14605">
            <a:solidFill>
              <a:srgbClr val="AAB6C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657600" y="2194560"/>
            <a:ext cx="960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730752" y="230428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Plan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49040" y="26334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task DAG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17720" y="2651760"/>
            <a:ext cx="109728" cy="0"/>
          </a:xfrm>
          <a:prstGeom prst="line">
            <a:avLst/>
          </a:prstGeom>
          <a:noFill/>
          <a:ln w="14605">
            <a:solidFill>
              <a:srgbClr val="AAB6C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709160" y="2194560"/>
            <a:ext cx="960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82312" y="230428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Code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0600" y="26334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structured patch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0" y="2651760"/>
            <a:ext cx="109728" cy="0"/>
          </a:xfrm>
          <a:prstGeom prst="line">
            <a:avLst/>
          </a:prstGeom>
          <a:noFill/>
          <a:ln w="14605">
            <a:solidFill>
              <a:srgbClr val="AAB6C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760720" y="2194560"/>
            <a:ext cx="960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833872" y="230428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Verify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852160" y="26334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build/test/security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720840" y="2651760"/>
            <a:ext cx="109728" cy="0"/>
          </a:xfrm>
          <a:prstGeom prst="line">
            <a:avLst/>
          </a:prstGeom>
          <a:noFill/>
          <a:ln w="14605">
            <a:solidFill>
              <a:srgbClr val="AAB6C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812280" y="2194560"/>
            <a:ext cx="960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885432" y="230428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Preview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03720" y="26334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browser first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72400" y="2651760"/>
            <a:ext cx="109728" cy="0"/>
          </a:xfrm>
          <a:prstGeom prst="line">
            <a:avLst/>
          </a:prstGeom>
          <a:noFill/>
          <a:ln w="14605">
            <a:solidFill>
              <a:srgbClr val="AAB6C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863840" y="2194560"/>
            <a:ext cx="960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936992" y="230428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Git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955280" y="26334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 / review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823960" y="2651760"/>
            <a:ext cx="109728" cy="0"/>
          </a:xfrm>
          <a:prstGeom prst="line">
            <a:avLst/>
          </a:prstGeom>
          <a:noFill/>
          <a:ln w="14605">
            <a:solidFill>
              <a:srgbClr val="AAB6C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915400" y="2194560"/>
            <a:ext cx="960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988552" y="230428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Release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006840" y="26334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web / stores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875520" y="2651760"/>
            <a:ext cx="109728" cy="0"/>
          </a:xfrm>
          <a:prstGeom prst="line">
            <a:avLst/>
          </a:prstGeom>
          <a:noFill/>
          <a:ln w="14605">
            <a:solidFill>
              <a:srgbClr val="AAB6C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966960" y="2194560"/>
            <a:ext cx="960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0040112" y="230428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Operate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058400" y="26334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logs / crashes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927080" y="2651760"/>
            <a:ext cx="109728" cy="0"/>
          </a:xfrm>
          <a:prstGeom prst="line">
            <a:avLst/>
          </a:prstGeom>
          <a:noFill/>
          <a:ln w="14605">
            <a:solidFill>
              <a:srgbClr val="AAB6C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1018520" y="2194560"/>
            <a:ext cx="960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1091672" y="230428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Maintain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1109960" y="26334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memory + impact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30352" y="397764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85216" y="4032504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SOURCE OF TRUTH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901952" y="392277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975104" y="403250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Application IR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860597" y="392277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933749" y="403250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Git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819242" y="392277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892394" y="403250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Contracts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777886" y="392277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851038" y="403250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Tests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736531" y="392277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9809683" y="403250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Deployment IDs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530352" y="489204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585216" y="4946904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COST CONTROLS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901952" y="483717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975104" y="494690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Context budget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3860597" y="483717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933749" y="494690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Model ladder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819242" y="483717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5892394" y="494690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Runtime tier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7777886" y="483717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851038" y="494690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Build cache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9736531" y="483717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9809683" y="494690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Physical device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UI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UI is a developer workbench + product control room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Every expensive or risky capability is visible, explainable and scoped.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783080"/>
            <a:ext cx="2578608" cy="365760"/>
          </a:xfrm>
          <a:prstGeom prst="roundRect">
            <a:avLst>
              <a:gd name="adj" fmla="val 20000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" y="1837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Build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331720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44144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Dashboard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35808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1455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Create / Stack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39896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84962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Chat / Requirements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443984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455371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Plan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148072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25780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Architecture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83280" y="1783080"/>
            <a:ext cx="2578608" cy="365760"/>
          </a:xfrm>
          <a:prstGeom prst="roundRect">
            <a:avLst>
              <a:gd name="adj" fmla="val 20000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438144" y="1837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Engineer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2331720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456432" y="244144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Code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83280" y="3035808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456432" y="31455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Repository / Changes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83280" y="3739896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456432" y="384962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Preview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83280" y="4443984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456432" y="455371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Real Device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83280" y="5148072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56432" y="525780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Cloud Device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99632" y="1783080"/>
            <a:ext cx="2578608" cy="365760"/>
          </a:xfrm>
          <a:prstGeom prst="roundRect">
            <a:avLst>
              <a:gd name="adj" fmla="val 20000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254496" y="1837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99632" y="2331720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272784" y="244144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Tests / Quality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99632" y="3035808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272784" y="31455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API / Data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99632" y="3739896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272784" y="384962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Integrations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99632" y="4443984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272784" y="455371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Logs / Observability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99632" y="5148072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272784" y="525780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Usage / Cost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015984" y="1783080"/>
            <a:ext cx="2578608" cy="365760"/>
          </a:xfrm>
          <a:prstGeom prst="roundRect">
            <a:avLst>
              <a:gd name="adj" fmla="val 20000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070848" y="1837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Deliver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015984" y="2331720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089136" y="244144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Deployments / Stores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015984" y="3035808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9089136" y="31455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Team / Security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015984" y="3739896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9089136" y="384962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Client Handover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9015984" y="4443984"/>
            <a:ext cx="2578608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9089136" y="455371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Settings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611880" y="5513832"/>
            <a:ext cx="4983480" cy="530352"/>
          </a:xfrm>
          <a:prstGeom prst="roundRect">
            <a:avLst>
              <a:gd name="adj" fmla="val 13793"/>
            </a:avLst>
          </a:prstGeom>
          <a:solidFill>
            <a:srgbClr val="111A31"/>
          </a:solidFill>
          <a:ln w="1524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749040" y="566013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C2F2"/>
                </a:solidFill>
              </a:rPr>
              <a:t>Preview UX hard rule: Browser Preview → Real Device → Cloud Device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STACK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 / Recommended chooses the cheapest safe architecture — then explains it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58952" y="20299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Requirements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359152"/>
            <a:ext cx="1691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budget • speed • team • APIs • hardware • compliance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2395728"/>
            <a:ext cx="594360" cy="0"/>
          </a:xfrm>
          <a:prstGeom prst="line">
            <a:avLst/>
          </a:prstGeom>
          <a:noFill/>
          <a:ln w="25400">
            <a:solidFill>
              <a:srgbClr val="5B5FE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560" y="192024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410712" y="2029968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Scoring Engine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29000" y="2359152"/>
            <a:ext cx="1783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capability + risk + economics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94960" y="2395728"/>
            <a:ext cx="594360" cy="0"/>
          </a:xfrm>
          <a:prstGeom prst="line">
            <a:avLst/>
          </a:prstGeom>
          <a:noFill/>
          <a:ln w="25400">
            <a:solidFill>
              <a:srgbClr val="27C2F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080760" y="192024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53912" y="2029968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Recommendation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2359152"/>
            <a:ext cx="1783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profile + reason + limits + cost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138160" y="2395728"/>
            <a:ext cx="594360" cy="0"/>
          </a:xfrm>
          <a:prstGeom prst="line">
            <a:avLst/>
          </a:prstGeom>
          <a:noFill/>
          <a:ln w="25400">
            <a:solidFill>
              <a:srgbClr val="15C7A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823960" y="192024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897112" y="202996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Human Override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15400" y="2359152"/>
            <a:ext cx="2148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persisted as ADR; never silently switched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" y="3703320"/>
            <a:ext cx="25420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3232" y="3730752"/>
            <a:ext cx="64008" cy="1271016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6968" y="38496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Expo/RN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4251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React/TS + fastest QR loop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0" y="3703320"/>
            <a:ext cx="25420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502152" y="3730752"/>
            <a:ext cx="64008" cy="127101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675888" y="38496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Flutter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75888" y="4251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one mobile team + consistent UI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3703320"/>
            <a:ext cx="25420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291072" y="3730752"/>
            <a:ext cx="64008" cy="127101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64808" y="38496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Native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64808" y="4251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deep OS/hardware/performance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52560" y="3703320"/>
            <a:ext cx="25420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079992" y="3730752"/>
            <a:ext cx="64008" cy="1271016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253728" y="38496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Web/PWA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253728" y="4251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lowest cost when native unnecessary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51560" y="5532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Never choose only from an industry label: fintech ≠ automatically native; e-commerce ≠ automatically MongoDB.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FRAMEWORKS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product model — multiple optimized target profiles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Share contracts and product rules first; share runtime code only where it is naturally compatible.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1783080"/>
            <a:ext cx="1097280" cy="719328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8368" y="1828800"/>
            <a:ext cx="102412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Profile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19072" y="1783080"/>
            <a:ext cx="1828800" cy="719328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755648" y="1828800"/>
            <a:ext cx="175564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Mobile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47872" y="1783080"/>
            <a:ext cx="1737360" cy="719328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84448" y="1828800"/>
            <a:ext cx="166420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Public web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85232" y="1783080"/>
            <a:ext cx="1645920" cy="719328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21808" y="1828800"/>
            <a:ext cx="157276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Admin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31152" y="1783080"/>
            <a:ext cx="1463040" cy="719328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967728" y="1828800"/>
            <a:ext cx="138988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Real iOS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394192" y="1783080"/>
            <a:ext cx="3200400" cy="719328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30768" y="1828800"/>
            <a:ext cx="312724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Best fit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1792" y="2502408"/>
            <a:ext cx="1097280" cy="719328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7512" y="2543556"/>
            <a:ext cx="100584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Auto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719072" y="2502408"/>
            <a:ext cx="182880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764792" y="2543556"/>
            <a:ext cx="173736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recommended profile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547872" y="2502408"/>
            <a:ext cx="173736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593592" y="2543556"/>
            <a:ext cx="16459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Next.js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285232" y="2502408"/>
            <a:ext cx="164592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330952" y="2543556"/>
            <a:ext cx="155448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Next.js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6931152" y="2502408"/>
            <a:ext cx="146304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976872" y="2543556"/>
            <a:ext cx="137160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depends on profile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8394192" y="2502408"/>
            <a:ext cx="320040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439912" y="2543556"/>
            <a:ext cx="310896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default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21792" y="3221736"/>
            <a:ext cx="1097280" cy="719328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67512" y="3262884"/>
            <a:ext cx="100584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Expo/RN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1719072" y="3221736"/>
            <a:ext cx="1828800" cy="719328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764792" y="3262884"/>
            <a:ext cx="173736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TypeScript / Expo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3547872" y="3221736"/>
            <a:ext cx="1737360" cy="719328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593592" y="3262884"/>
            <a:ext cx="16459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Next.js / RN Web optional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285232" y="3221736"/>
            <a:ext cx="1645920" cy="719328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330952" y="3262884"/>
            <a:ext cx="155448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Next.js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6931152" y="3221736"/>
            <a:ext cx="1463040" cy="719328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976872" y="3262884"/>
            <a:ext cx="137160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EAS/macOS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394192" y="3221736"/>
            <a:ext cx="3200400" cy="719328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439912" y="3262884"/>
            <a:ext cx="310896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React/TS + QR economics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621792" y="3941064"/>
            <a:ext cx="1097280" cy="719328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67512" y="3982212"/>
            <a:ext cx="100584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Flutter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1719072" y="3941064"/>
            <a:ext cx="182880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764792" y="3982212"/>
            <a:ext cx="173736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Dart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3547872" y="3941064"/>
            <a:ext cx="173736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3593592" y="3982212"/>
            <a:ext cx="16459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Next.js / Flutter Web optional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5285232" y="3941064"/>
            <a:ext cx="164592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330952" y="3982212"/>
            <a:ext cx="155448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Next.js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6931152" y="3941064"/>
            <a:ext cx="146304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976872" y="3982212"/>
            <a:ext cx="137160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macOS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8394192" y="3941064"/>
            <a:ext cx="320040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8439912" y="3982212"/>
            <a:ext cx="310896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one mobile codebase + custom UI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621792" y="4660392"/>
            <a:ext cx="1097280" cy="719328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67512" y="4701540"/>
            <a:ext cx="100584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Native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1719072" y="4660392"/>
            <a:ext cx="1828800" cy="719328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1764792" y="4701540"/>
            <a:ext cx="173736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Kotlin + Swift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3547872" y="4660392"/>
            <a:ext cx="1737360" cy="719328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593592" y="4701540"/>
            <a:ext cx="16459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Next.js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5285232" y="4660392"/>
            <a:ext cx="1645920" cy="719328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5330952" y="4701540"/>
            <a:ext cx="155448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Next.js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6931152" y="4660392"/>
            <a:ext cx="1463040" cy="719328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6976872" y="4701540"/>
            <a:ext cx="137160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macOS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8394192" y="4660392"/>
            <a:ext cx="3200400" cy="719328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439912" y="4701540"/>
            <a:ext cx="310896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deep native APIs / hardware / performance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621792" y="5379720"/>
            <a:ext cx="1097280" cy="719328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667512" y="5420868"/>
            <a:ext cx="100584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Web/PWA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1719072" y="5379720"/>
            <a:ext cx="182880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1764792" y="5420868"/>
            <a:ext cx="173736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none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3547872" y="5379720"/>
            <a:ext cx="173736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3593592" y="5420868"/>
            <a:ext cx="16459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Next.js/PWA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5285232" y="5379720"/>
            <a:ext cx="164592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5330952" y="5420868"/>
            <a:ext cx="155448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Next.js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6931152" y="5379720"/>
            <a:ext cx="146304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6976872" y="5420868"/>
            <a:ext cx="137160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N/A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8394192" y="5379720"/>
            <a:ext cx="3200400" cy="719328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8439912" y="5420868"/>
            <a:ext cx="310896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lowest-cost web products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DATABASE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choice is also Auto / Recommended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OmniStackAI itself uses PostgreSQL; generated customer projects can use the database that fits the workload.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344168" y="2139696"/>
            <a:ext cx="2889504" cy="288950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53896" y="236829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72184" y="2724912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default for relational commercial systems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45152" y="2139696"/>
            <a:ext cx="2889504" cy="288950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54880" y="236829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MongoDB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2724912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document-heavy / flexible workloads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927848" y="2139696"/>
            <a:ext cx="2889504" cy="288950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37576" y="236829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BaaS / Existing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55864" y="2724912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Supabase • Firebase • enterprise DB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15968" y="1664208"/>
            <a:ext cx="35661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389120" y="1773936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Database Recommender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07408" y="21031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relationships • transactions • reporting • flexibility • team • compliance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0760" y="2414016"/>
            <a:ext cx="-2560320" cy="310896"/>
          </a:xfrm>
          <a:prstGeom prst="line">
            <a:avLst/>
          </a:prstGeom>
          <a:noFill/>
          <a:ln w="16510">
            <a:solidFill>
              <a:srgbClr val="9DAAC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080760" y="2414016"/>
            <a:ext cx="0" cy="310896"/>
          </a:xfrm>
          <a:prstGeom prst="line">
            <a:avLst/>
          </a:prstGeom>
          <a:noFill/>
          <a:ln w="16510">
            <a:solidFill>
              <a:srgbClr val="9DAAC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80760" y="2414016"/>
            <a:ext cx="2560320" cy="310896"/>
          </a:xfrm>
          <a:prstGeom prst="line">
            <a:avLst/>
          </a:prstGeom>
          <a:noFill/>
          <a:ln w="16510">
            <a:solidFill>
              <a:srgbClr val="9DAAC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14400" y="534924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41832" y="5376672"/>
            <a:ext cx="64008" cy="63093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115568" y="549554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Postgres strengths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5568" y="5897880"/>
            <a:ext cx="28986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transactions • constraints • JSONB • pgvector • PostGIS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534924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507992" y="5376672"/>
            <a:ext cx="64008" cy="63093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81728" y="549554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Mongo strengths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81728" y="5897880"/>
            <a:ext cx="28986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flexible document model • rapid evolving data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46720" y="534924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074152" y="5376672"/>
            <a:ext cx="64008" cy="630936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47888" y="549554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Rule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47888" y="5897880"/>
            <a:ext cx="28986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recommend from measured requirements, never competitor imitation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IR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IR is the product truth between human intent and generated code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It is framework-neutral, versioned and migratable.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423160"/>
            <a:ext cx="2103120" cy="960120"/>
          </a:xfrm>
          <a:prstGeom prst="roundRect">
            <a:avLst>
              <a:gd name="adj" fmla="val 6667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253288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User Intent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2862072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requirements + constraints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80360" y="2907792"/>
            <a:ext cx="804672" cy="0"/>
          </a:xfrm>
          <a:prstGeom prst="line">
            <a:avLst/>
          </a:prstGeom>
          <a:noFill/>
          <a:ln w="29210">
            <a:solidFill>
              <a:srgbClr val="27C2F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749040" y="1920240"/>
            <a:ext cx="2743200" cy="1965960"/>
          </a:xfrm>
          <a:prstGeom prst="hexagon">
            <a:avLst/>
          </a:prstGeom>
          <a:solidFill>
            <a:srgbClr val="1B2353"/>
          </a:solidFill>
          <a:ln w="254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069080" y="23225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APPLICATION IR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151376" y="2816352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BFC7FF"/>
                </a:solidFill>
              </a:rPr>
              <a:t>roles • screens • flows • entities • APIs • rules • targets • acceptance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583680" y="2907792"/>
            <a:ext cx="804672" cy="0"/>
          </a:xfrm>
          <a:prstGeom prst="line">
            <a:avLst/>
          </a:prstGeom>
          <a:noFill/>
          <a:ln w="29210">
            <a:solidFill>
              <a:srgbClr val="5B5FE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479792" y="2423160"/>
            <a:ext cx="2057400" cy="960120"/>
          </a:xfrm>
          <a:prstGeom prst="roundRect">
            <a:avLst>
              <a:gd name="adj" fmla="val 6667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52944" y="2532888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Architecture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71232" y="2862072"/>
            <a:ext cx="1874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ADRs + policies + contracts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619488" y="2907792"/>
            <a:ext cx="576072" cy="0"/>
          </a:xfrm>
          <a:prstGeom prst="line">
            <a:avLst/>
          </a:prstGeom>
          <a:noFill/>
          <a:ln w="29210">
            <a:solidFill>
              <a:srgbClr val="FF9F4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287000" y="2423160"/>
            <a:ext cx="1188720" cy="960120"/>
          </a:xfrm>
          <a:prstGeom prst="roundRect">
            <a:avLst>
              <a:gd name="adj" fmla="val 6667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360152" y="253288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Code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378440" y="286207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targets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0352" y="457200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85216" y="4626864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IR SECTIONS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901952" y="4517136"/>
            <a:ext cx="1252728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975104" y="4626864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Product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00984" y="4517136"/>
            <a:ext cx="1252728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374136" y="4626864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Roles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0016" y="4517136"/>
            <a:ext cx="1252728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773168" y="4626864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Flows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99048" y="4517136"/>
            <a:ext cx="1252728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172200" y="4626864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98080" y="4517136"/>
            <a:ext cx="1252728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571232" y="4626864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APIs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897112" y="4517136"/>
            <a:ext cx="1252728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970264" y="4626864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Targets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0296144" y="4517136"/>
            <a:ext cx="1252728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369296" y="4626864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Acceptance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CORE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IR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IR makes cross-platform evolution possible without re-discovering behavior from source code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45152" y="184708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Application IR + Contracts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63440" y="21762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canonical behavior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3063240"/>
            <a:ext cx="3063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33272" y="317296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Flutter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350215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Android + iOS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0760" y="2578608"/>
            <a:ext cx="-3584448" cy="438912"/>
          </a:xfrm>
          <a:prstGeom prst="line">
            <a:avLst/>
          </a:prstGeom>
          <a:noFill/>
          <a:ln w="12700">
            <a:solidFill>
              <a:srgbClr val="A6B4C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3063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36592" y="317296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Expo/RN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0" y="350215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Android + iOS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0760" y="2578608"/>
            <a:ext cx="118872" cy="438912"/>
          </a:xfrm>
          <a:prstGeom prst="line">
            <a:avLst/>
          </a:prstGeom>
          <a:noFill/>
          <a:ln w="12700">
            <a:solidFill>
              <a:srgbClr val="A6B4C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366760" y="3063240"/>
            <a:ext cx="3063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39912" y="317296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Kotlin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58200" y="350215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Native Android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80760" y="2578608"/>
            <a:ext cx="3822192" cy="438912"/>
          </a:xfrm>
          <a:prstGeom prst="line">
            <a:avLst/>
          </a:prstGeom>
          <a:noFill/>
          <a:ln w="12700">
            <a:solidFill>
              <a:srgbClr val="A6B4C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60120" y="4480560"/>
            <a:ext cx="3063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778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33272" y="459028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Swift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51560" y="49194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Native iOS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80760" y="2578608"/>
            <a:ext cx="-3584448" cy="1856232"/>
          </a:xfrm>
          <a:prstGeom prst="line">
            <a:avLst/>
          </a:prstGeom>
          <a:noFill/>
          <a:ln w="12700">
            <a:solidFill>
              <a:srgbClr val="A6B4C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663440" y="4480560"/>
            <a:ext cx="3063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36592" y="459028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Next.js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0" y="49194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Web / Admin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80760" y="2578608"/>
            <a:ext cx="118872" cy="1856232"/>
          </a:xfrm>
          <a:prstGeom prst="line">
            <a:avLst/>
          </a:prstGeom>
          <a:noFill/>
          <a:ln w="12700">
            <a:solidFill>
              <a:srgbClr val="A6B4C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366760" y="4480560"/>
            <a:ext cx="3063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439912" y="459028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Go/Python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58200" y="49194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Backend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80760" y="2578608"/>
            <a:ext cx="3822192" cy="1856232"/>
          </a:xfrm>
          <a:prstGeom prst="line">
            <a:avLst/>
          </a:prstGeom>
          <a:noFill/>
          <a:ln w="12700">
            <a:solidFill>
              <a:srgbClr val="A6B4C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60120" y="601675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5FEF"/>
                </a:solidFill>
              </a:rPr>
              <a:t>Migration path: measure limitation → small native adapter first → parallel native target from IR → parity tests → staged cutover.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OmniStackAI platform architecture: four primary deployables, strong logical modules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Start simple; split only when scaling/security/ownership becomes measurable.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" y="193852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Console Web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267712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Next.js • React • 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24912" y="2267712"/>
            <a:ext cx="493776" cy="0"/>
          </a:xfrm>
          <a:prstGeom prst="line">
            <a:avLst/>
          </a:prstGeom>
          <a:noFill/>
          <a:ln w="22860">
            <a:solidFill>
              <a:srgbClr val="27C2F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73552" y="182880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46704" y="193852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Control Plane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64992" y="2267712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Go modular monolith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68112" y="2267712"/>
            <a:ext cx="493776" cy="0"/>
          </a:xfrm>
          <a:prstGeom prst="line">
            <a:avLst/>
          </a:prstGeom>
          <a:noFill/>
          <a:ln w="22860">
            <a:solidFill>
              <a:srgbClr val="5B5FE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16752" y="182880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89904" y="193852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Agent Engine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08192" y="2267712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Python + Model/Context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11312" y="2267712"/>
            <a:ext cx="493776" cy="0"/>
          </a:xfrm>
          <a:prstGeom prst="line">
            <a:avLst/>
          </a:prstGeom>
          <a:noFill/>
          <a:ln w="22860">
            <a:solidFill>
              <a:srgbClr val="8B5C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759952" y="182880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833104" y="193852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Runner Manager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851392" y="2267712"/>
            <a:ext cx="2331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Go + RuntimeProvider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0352" y="32461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85216" y="3300984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LOGICAL MODULES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901952" y="3191256"/>
            <a:ext cx="1485900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975104" y="3300984"/>
            <a:ext cx="1339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 Gateway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534156" y="3191256"/>
            <a:ext cx="1485900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607308" y="3300984"/>
            <a:ext cx="1339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Context Engine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66360" y="3191256"/>
            <a:ext cx="1485900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239512" y="3300984"/>
            <a:ext cx="1339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Code Intelligence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798564" y="3191256"/>
            <a:ext cx="1485900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871716" y="3300984"/>
            <a:ext cx="1339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Deployment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430768" y="3191256"/>
            <a:ext cx="1485900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503920" y="3300984"/>
            <a:ext cx="1339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Billing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062972" y="3191256"/>
            <a:ext cx="1485900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136124" y="3300984"/>
            <a:ext cx="1339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Audit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30352" y="422452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85216" y="4279392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+ EVENTS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901952" y="4169664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975104" y="4279392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PostgreSQL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860597" y="4169664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933749" y="4279392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pgvector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819242" y="4169664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892394" y="4279392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Redis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777886" y="4169664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851038" y="4279392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NATS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9736531" y="4169664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809683" y="4279392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Object Storage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30352" y="5202936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85216" y="525780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EXECUTION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901952" y="5148072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1975104" y="5257800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Browser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860597" y="5148072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933749" y="5257800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Linux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819242" y="5148072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892394" y="5257800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Android/KVM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777886" y="5148072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851038" y="5257800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macOS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9736531" y="5148072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9809683" y="5257800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Local/BYOC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DEPLOYABLES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boundary: keep four deployables; keep the rest modular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2542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40664" y="1901952"/>
            <a:ext cx="64008" cy="2048256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0208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console-web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</a:rPr>
              <a:t>UX + streaming + code/preview/device control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</a:rPr>
              <a:t>stateless web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3511296" y="1874520"/>
            <a:ext cx="2542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538728" y="1901952"/>
            <a:ext cx="64008" cy="204825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12464" y="20208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control-plane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12464" y="242316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</a:rPr>
              <a:t>tenancy, policy, Git, billing, audit, deployments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</a:rPr>
              <a:t>transactional core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6309360" y="1874520"/>
            <a:ext cx="2542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336792" y="1901952"/>
            <a:ext cx="64008" cy="20482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10528" y="20208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agent-engine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0528" y="242316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</a:rPr>
              <a:t>requirements, context, model gateway, agent graph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</a:rPr>
              <a:t>AI plane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9107424" y="1874520"/>
            <a:ext cx="2542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34856" y="1901952"/>
            <a:ext cx="64008" cy="204825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08592" y="20208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runner-manager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08592" y="242316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</a:rPr>
              <a:t>sandbox/build/device scheduling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</a:rPr>
              <a:t>untrusted execution boundary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1005840" y="482803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FEF"/>
                </a:solidFill>
              </a:rPr>
              <a:t>Split candidates later: model gateway • billing • build service • indexing • realtime gateway • signing service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057400" y="5413248"/>
            <a:ext cx="80741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2084832" y="5440680"/>
            <a:ext cx="64008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258568" y="5559552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Anti-overengineering rule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58568" y="5961888"/>
            <a:ext cx="772668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No Kafka, dedicated vector DB, dozens of microservices or Bazel/Pants until the measured problem justifies them.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REPOSITORY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REPO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Canonical platform repository: omnistackai-platform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A modular monorepo keeps contracts, agents, runners, telemetry and policies synchronized early.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1783080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9224" y="1810512"/>
            <a:ext cx="64008" cy="969264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1929384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apps/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console-web/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370832" y="1783080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398264" y="1810512"/>
            <a:ext cx="64008" cy="969264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0" y="1929384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services/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4572000" y="2331720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control-plane/ • agent-engine/ • runner-manager/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8119872" y="1783080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47304" y="1810512"/>
            <a:ext cx="64008" cy="969264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21040" y="1929384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modules/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321040" y="2331720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model-gateway/ • context-engine/ • code-intelligence/ • deployment/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21792" y="3081528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9224" y="3108960"/>
            <a:ext cx="64008" cy="96926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" y="3227832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workers/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822960" y="3630168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linux/ • android/ • web/ • mac-controller/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4370832" y="3081528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398264" y="3108960"/>
            <a:ext cx="64008" cy="9692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0" y="3227832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packages/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4572000" y="3630168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contracts/ • policy-schemas/ • telemetry/ • ui/ • agent-sdk/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119872" y="3081528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147304" y="3108960"/>
            <a:ext cx="64008" cy="9692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321040" y="3227832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ai/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8321040" y="3630168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prompts/ • agents/ • tools/ • evals/ • benchmarks/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21792" y="4379976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49224" y="4407408"/>
            <a:ext cx="64008" cy="969264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2960" y="4526280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templates/</a:t>
            </a:r>
            <a:endParaRPr lang="en-US" sz="1180" dirty="0"/>
          </a:p>
        </p:txBody>
      </p:sp>
      <p:sp>
        <p:nvSpPr>
          <p:cNvPr id="37" name="Text 35"/>
          <p:cNvSpPr/>
          <p:nvPr/>
        </p:nvSpPr>
        <p:spPr>
          <a:xfrm>
            <a:off x="822960" y="4928616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expo-rn/ • flutter/ • android/ • ios/ • nextjs/ • backend/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4370832" y="4379976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398264" y="4407408"/>
            <a:ext cx="64008" cy="969264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572000" y="4526280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infra/</a:t>
            </a:r>
            <a:endParaRPr lang="en-US" sz="1180" dirty="0"/>
          </a:p>
        </p:txBody>
      </p:sp>
      <p:sp>
        <p:nvSpPr>
          <p:cNvPr id="41" name="Text 39"/>
          <p:cNvSpPr/>
          <p:nvPr/>
        </p:nvSpPr>
        <p:spPr>
          <a:xfrm>
            <a:off x="4572000" y="4928616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terraform/ • kubernetes/ • environments/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8119872" y="4379976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8147304" y="4407408"/>
            <a:ext cx="64008" cy="969264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321040" y="4526280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security/</a:t>
            </a:r>
            <a:endParaRPr lang="en-US" sz="1180" dirty="0"/>
          </a:p>
        </p:txBody>
      </p:sp>
      <p:sp>
        <p:nvSpPr>
          <p:cNvPr id="45" name="Text 43"/>
          <p:cNvSpPr/>
          <p:nvPr/>
        </p:nvSpPr>
        <p:spPr>
          <a:xfrm>
            <a:off x="8321040" y="4928616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threat-models/ • policies/ • supply-chain/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REPOSITORY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CUSTOMER GIT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customer product = one Git repository; monorepo inside by default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AI changes stay atomic across mobile, web, admin, backend, schema and tests.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1920240"/>
            <a:ext cx="1920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202996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&lt;org&gt;-&lt;product&gt;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23591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customer-readable repo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97480" y="2276856"/>
            <a:ext cx="484632" cy="0"/>
          </a:xfrm>
          <a:prstGeom prst="line">
            <a:avLst/>
          </a:prstGeom>
          <a:noFill/>
          <a:ln w="21590">
            <a:solidFill>
              <a:srgbClr val="5B5FE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73552" y="1664208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46704" y="1773936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.ai/ IR • ADR • policies • tasks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73552" y="2322576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46704" y="2432304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apps/ mobile • web • admin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73552" y="2980944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346704" y="309067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services/ API • workers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73552" y="3639312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346704" y="374904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packages/ contracts • tokens • validation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73552" y="429768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346704" y="4407408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database/ migrations • seeds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73552" y="4956048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346704" y="5065776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infra/ • tests/ • docs/ • scripts/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02752" y="1828800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375904" y="193852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Protected main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94192" y="2267712"/>
            <a:ext cx="2651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short-lived ai/&lt;task-id&gt; branches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302752" y="2724912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375904" y="283464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One task → one PR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94192" y="3163824"/>
            <a:ext cx="2651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diff + gates + approvals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302752" y="3621024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375904" y="373075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CODEOWNERS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394192" y="4059936"/>
            <a:ext cx="2651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sensitive paths protected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302752" y="4517136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375904" y="4626864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Client handover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394192" y="4956048"/>
            <a:ext cx="2651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source + IR + docs + provenance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60120" y="596188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4444"/>
                </a:solidFill>
              </a:rPr>
              <a:t>Never put multiple customers in one source repository. Never silently split a customer project into multiple repositories.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AGENTS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 are activated by the task graph — not by a fixed “run everything” pipeline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Specialists receive scoped context and tool permissions.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572768"/>
            <a:ext cx="3017520" cy="713232"/>
          </a:xfrm>
          <a:prstGeom prst="roundRect">
            <a:avLst>
              <a:gd name="adj" fmla="val 8974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45152" y="1682496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Supervisor / Orchestrator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budget • policy • state • routing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1627632" cy="685800"/>
          </a:xfrm>
          <a:prstGeom prst="roundRect">
            <a:avLst>
              <a:gd name="adj" fmla="val 9333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3232" y="289864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Requirements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2286000"/>
            <a:ext cx="-4617720" cy="457200"/>
          </a:xfrm>
          <a:prstGeom prst="line">
            <a:avLst/>
          </a:prstGeom>
          <a:noFill/>
          <a:ln w="11430">
            <a:solidFill>
              <a:srgbClr val="50617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971800" y="2788920"/>
            <a:ext cx="1627632" cy="685800"/>
          </a:xfrm>
          <a:prstGeom prst="roundRect">
            <a:avLst>
              <a:gd name="adj" fmla="val 9333"/>
            </a:avLst>
          </a:prstGeom>
          <a:solidFill>
            <a:srgbClr val="151F38"/>
          </a:solidFill>
          <a:ln w="1778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044952" y="289864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Architect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2286000"/>
            <a:ext cx="-2286000" cy="457200"/>
          </a:xfrm>
          <a:prstGeom prst="line">
            <a:avLst/>
          </a:prstGeom>
          <a:noFill/>
          <a:ln w="11430">
            <a:solidFill>
              <a:srgbClr val="50617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303520" y="2788920"/>
            <a:ext cx="1627632" cy="685800"/>
          </a:xfrm>
          <a:prstGeom prst="roundRect">
            <a:avLst>
              <a:gd name="adj" fmla="val 9333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376672" y="289864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Impact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2286000"/>
            <a:ext cx="45720" cy="457200"/>
          </a:xfrm>
          <a:prstGeom prst="line">
            <a:avLst/>
          </a:prstGeom>
          <a:noFill/>
          <a:ln w="11430">
            <a:solidFill>
              <a:srgbClr val="50617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635240" y="2788920"/>
            <a:ext cx="1627632" cy="685800"/>
          </a:xfrm>
          <a:prstGeom prst="roundRect">
            <a:avLst>
              <a:gd name="adj" fmla="val 9333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08392" y="289864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Context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2286000"/>
            <a:ext cx="2377440" cy="457200"/>
          </a:xfrm>
          <a:prstGeom prst="line">
            <a:avLst/>
          </a:prstGeom>
          <a:noFill/>
          <a:ln w="11430">
            <a:solidFill>
              <a:srgbClr val="50617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966960" y="2788920"/>
            <a:ext cx="1627632" cy="685800"/>
          </a:xfrm>
          <a:prstGeom prst="roundRect">
            <a:avLst>
              <a:gd name="adj" fmla="val 9333"/>
            </a:avLst>
          </a:prstGeom>
          <a:solidFill>
            <a:srgbClr val="151F38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040112" y="289864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Cost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80760" y="2286000"/>
            <a:ext cx="4709160" cy="457200"/>
          </a:xfrm>
          <a:prstGeom prst="line">
            <a:avLst/>
          </a:prstGeom>
          <a:noFill/>
          <a:ln w="11430">
            <a:solidFill>
              <a:srgbClr val="50617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85800" y="397764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58952" y="408736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Mobile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7240" y="4416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bounded job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26080" y="397764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999232" y="408736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Web/Admin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017520" y="4416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bounded job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66360" y="397764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239512" y="408736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Backend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57800" y="4416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bounded job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406640" y="397764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479792" y="408736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DB/Integration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498080" y="4416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bounded job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646920" y="397764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151F38"/>
          </a:solidFill>
          <a:ln w="1778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720072" y="408736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QA/Security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738360" y="4416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bounded job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224528" y="5230368"/>
            <a:ext cx="3703320" cy="713232"/>
          </a:xfrm>
          <a:prstGeom prst="roundRect">
            <a:avLst>
              <a:gd name="adj" fmla="val 8974"/>
            </a:avLst>
          </a:prstGeom>
          <a:solidFill>
            <a:srgbClr val="151F38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297680" y="5340096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Review → Git → Deployment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315968" y="56692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accepted commit only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600200" y="4690872"/>
            <a:ext cx="4480560" cy="502920"/>
          </a:xfrm>
          <a:prstGeom prst="line">
            <a:avLst/>
          </a:prstGeom>
          <a:noFill/>
          <a:ln w="10160">
            <a:solidFill>
              <a:srgbClr val="50617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3840480" y="4690872"/>
            <a:ext cx="2240280" cy="502920"/>
          </a:xfrm>
          <a:prstGeom prst="line">
            <a:avLst/>
          </a:prstGeom>
          <a:noFill/>
          <a:ln w="10160">
            <a:solidFill>
              <a:srgbClr val="50617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080760" y="4690872"/>
            <a:ext cx="0" cy="502920"/>
          </a:xfrm>
          <a:prstGeom prst="line">
            <a:avLst/>
          </a:prstGeom>
          <a:noFill/>
          <a:ln w="10160">
            <a:solidFill>
              <a:srgbClr val="50617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8321040" y="4690872"/>
            <a:ext cx="-2240280" cy="502920"/>
          </a:xfrm>
          <a:prstGeom prst="line">
            <a:avLst/>
          </a:prstGeom>
          <a:noFill/>
          <a:ln w="10160">
            <a:solidFill>
              <a:srgbClr val="50617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10561320" y="4690872"/>
            <a:ext cx="-4480560" cy="502920"/>
          </a:xfrm>
          <a:prstGeom prst="line">
            <a:avLst/>
          </a:prstGeom>
          <a:noFill/>
          <a:ln w="10160">
            <a:solidFill>
              <a:srgbClr val="50617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DURABILITY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is the durable workflow spine; agent graph is replaceable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969264" cy="438912"/>
          </a:xfrm>
          <a:prstGeom prst="roundRect">
            <a:avLst>
              <a:gd name="adj" fmla="val 16667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57784" y="220370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CREATED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1472184" y="2368296"/>
            <a:ext cx="91440" cy="0"/>
          </a:xfrm>
          <a:prstGeom prst="line">
            <a:avLst/>
          </a:prstGeom>
          <a:noFill/>
          <a:ln w="12700">
            <a:solidFill>
              <a:srgbClr val="A4B0C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645920" y="2148840"/>
            <a:ext cx="969264" cy="438912"/>
          </a:xfrm>
          <a:prstGeom prst="roundRect">
            <a:avLst>
              <a:gd name="adj" fmla="val 16667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700784" y="220370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SPECIFY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2615184" y="2368296"/>
            <a:ext cx="91440" cy="0"/>
          </a:xfrm>
          <a:prstGeom prst="line">
            <a:avLst/>
          </a:prstGeom>
          <a:noFill/>
          <a:ln w="12700">
            <a:solidFill>
              <a:srgbClr val="A4B0C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788920" y="2148840"/>
            <a:ext cx="969264" cy="438912"/>
          </a:xfrm>
          <a:prstGeom prst="roundRect">
            <a:avLst>
              <a:gd name="adj" fmla="val 16667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843784" y="220370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PLAN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3758184" y="2368296"/>
            <a:ext cx="91440" cy="0"/>
          </a:xfrm>
          <a:prstGeom prst="line">
            <a:avLst/>
          </a:prstGeom>
          <a:noFill/>
          <a:ln w="12700">
            <a:solidFill>
              <a:srgbClr val="A4B0C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931920" y="2148840"/>
            <a:ext cx="969264" cy="438912"/>
          </a:xfrm>
          <a:prstGeom prst="roundRect">
            <a:avLst>
              <a:gd name="adj" fmla="val 16667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220370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APPROVAL?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4901184" y="2368296"/>
            <a:ext cx="91440" cy="0"/>
          </a:xfrm>
          <a:prstGeom prst="line">
            <a:avLst/>
          </a:prstGeom>
          <a:noFill/>
          <a:ln w="12700">
            <a:solidFill>
              <a:srgbClr val="A4B0C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074920" y="2148840"/>
            <a:ext cx="969264" cy="438912"/>
          </a:xfrm>
          <a:prstGeom prst="roundRect">
            <a:avLst>
              <a:gd name="adj" fmla="val 16667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129784" y="220370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EXECUTE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6044184" y="2368296"/>
            <a:ext cx="91440" cy="0"/>
          </a:xfrm>
          <a:prstGeom prst="line">
            <a:avLst/>
          </a:prstGeom>
          <a:noFill/>
          <a:ln w="12700">
            <a:solidFill>
              <a:srgbClr val="A4B0C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217920" y="2148840"/>
            <a:ext cx="969264" cy="438912"/>
          </a:xfrm>
          <a:prstGeom prst="roundRect">
            <a:avLst>
              <a:gd name="adj" fmla="val 16667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72784" y="220370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VERIFY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7187184" y="2368296"/>
            <a:ext cx="91440" cy="0"/>
          </a:xfrm>
          <a:prstGeom prst="line">
            <a:avLst/>
          </a:prstGeom>
          <a:noFill/>
          <a:ln w="12700">
            <a:solidFill>
              <a:srgbClr val="A4B0C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360920" y="2148840"/>
            <a:ext cx="969264" cy="438912"/>
          </a:xfrm>
          <a:prstGeom prst="roundRect">
            <a:avLst>
              <a:gd name="adj" fmla="val 16667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415784" y="220370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REVIEW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8330184" y="2368296"/>
            <a:ext cx="91440" cy="0"/>
          </a:xfrm>
          <a:prstGeom prst="line">
            <a:avLst/>
          </a:prstGeom>
          <a:noFill/>
          <a:ln w="12700">
            <a:solidFill>
              <a:srgbClr val="A4B0C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503920" y="2148840"/>
            <a:ext cx="969264" cy="438912"/>
          </a:xfrm>
          <a:prstGeom prst="roundRect">
            <a:avLst>
              <a:gd name="adj" fmla="val 16667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558784" y="220370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MERGE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9473184" y="2368296"/>
            <a:ext cx="91440" cy="0"/>
          </a:xfrm>
          <a:prstGeom prst="line">
            <a:avLst/>
          </a:prstGeom>
          <a:noFill/>
          <a:ln w="12700">
            <a:solidFill>
              <a:srgbClr val="A4B0C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646920" y="2148840"/>
            <a:ext cx="969264" cy="438912"/>
          </a:xfrm>
          <a:prstGeom prst="roundRect">
            <a:avLst>
              <a:gd name="adj" fmla="val 16667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701784" y="220370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DEPLOY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10616184" y="2368296"/>
            <a:ext cx="91440" cy="0"/>
          </a:xfrm>
          <a:prstGeom prst="line">
            <a:avLst/>
          </a:prstGeom>
          <a:noFill/>
          <a:ln w="12700">
            <a:solidFill>
              <a:srgbClr val="A4B0C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789920" y="2148840"/>
            <a:ext cx="969264" cy="438912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762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844784" y="220370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SUCCESS</a:t>
            </a:r>
            <a:endParaRPr lang="en-US" sz="770" dirty="0"/>
          </a:p>
        </p:txBody>
      </p:sp>
      <p:sp>
        <p:nvSpPr>
          <p:cNvPr id="38" name="Shape 36"/>
          <p:cNvSpPr/>
          <p:nvPr/>
        </p:nvSpPr>
        <p:spPr>
          <a:xfrm>
            <a:off x="777240" y="3401568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04672" y="3429000"/>
            <a:ext cx="64008" cy="136245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78408" y="3547872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Checkpoint every meaningful step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78408" y="3950208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run_id • task_id • step_id • idempotency key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425696" y="3401568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453128" y="3429000"/>
            <a:ext cx="64008" cy="1362456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626864" y="3547872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Browser disconnect ≠ task cancel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626864" y="3950208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server job continues; UI replays event ledger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074152" y="3401568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101584" y="3429000"/>
            <a:ext cx="64008" cy="1362456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275320" y="3547872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Retry without duplicate side effects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275320" y="3950208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external operations are replay-safe or explicitly non-replayable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971800" y="5257800"/>
            <a:ext cx="23774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3044952" y="53675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Temporal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3063240" y="56967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durability • retries • pause/resume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30568" y="5257800"/>
            <a:ext cx="23774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778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903720" y="53675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AgentGraphAdapter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922008" y="56967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custom / LangGraph / future engine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367528" y="5586984"/>
            <a:ext cx="1417320" cy="0"/>
          </a:xfrm>
          <a:prstGeom prst="line">
            <a:avLst/>
          </a:prstGeom>
          <a:noFill/>
          <a:ln w="19050">
            <a:solidFill>
              <a:srgbClr val="9AABBE"/>
            </a:solidFill>
            <a:prstDash val="dash"/>
            <a:headEnd type="none"/>
            <a:tailEnd type="triangle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RUNTIME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RUNTIME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Capability-based runtimes: never use the most expensive environment for every task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Agents call RuntimeProvider; provider/vendor is an implementation detail.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1773936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18288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89888" y="1728216"/>
            <a:ext cx="2194560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463040" y="183794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Browser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67328" y="182880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7C2D8"/>
                </a:solidFill>
              </a:rPr>
              <a:t>JS/TS/WASM preview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9281160" y="176479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336024" y="18196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</a:rPr>
              <a:t>LOWEST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58368" y="2468880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3232" y="25237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89888" y="2423160"/>
            <a:ext cx="2194560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2532888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Linux sandbox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767328" y="2523744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7C2D8"/>
                </a:solidFill>
              </a:rPr>
              <a:t>web/backend/build/test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9281160" y="245973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36024" y="251460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</a:rPr>
              <a:t>LOW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58368" y="3163824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13232" y="32186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389888" y="3118104"/>
            <a:ext cx="2194560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463040" y="322783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Owned K8s / secure Linux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767328" y="3218688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7C2D8"/>
                </a:solidFill>
              </a:rPr>
              <a:t>scale / high-risk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9281160" y="315468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336024" y="320954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</a:rPr>
              <a:t>MEDIUM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658368" y="3858768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13232" y="39136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T3A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389888" y="3813048"/>
            <a:ext cx="2194560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463040" y="392277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Android/KVM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767328" y="391363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7C2D8"/>
                </a:solidFill>
              </a:rPr>
              <a:t>real Android debug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9281160" y="3849624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336024" y="39044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</a:rPr>
              <a:t>MEDIUM-HIGH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658368" y="4553712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EC4899"/>
          </a:solidFill>
          <a:ln w="762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13232" y="46085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T3I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389888" y="4507992"/>
            <a:ext cx="2194560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463040" y="461772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macOS/Xcode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767328" y="4608576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7C2D8"/>
                </a:solidFill>
              </a:rPr>
              <a:t>iOS build/sim/sign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9281160" y="454456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C4899"/>
          </a:solidFill>
          <a:ln w="762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336024" y="45994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</a:rPr>
              <a:t>HIGH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658368" y="5248656"/>
            <a:ext cx="566928" cy="438912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762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13232" y="53035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T4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389888" y="5202936"/>
            <a:ext cx="2194560" cy="530352"/>
          </a:xfrm>
          <a:prstGeom prst="roundRect">
            <a:avLst>
              <a:gd name="adj" fmla="val 12069"/>
            </a:avLst>
          </a:prstGeom>
          <a:solidFill>
            <a:srgbClr val="151F38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463040" y="53126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Local / BYOC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767328" y="530352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7C2D8"/>
                </a:solidFill>
              </a:rPr>
              <a:t>privacy / customer compute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9281160" y="523951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22C55E"/>
          </a:solidFill>
          <a:ln w="762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9336024" y="529437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</a:rPr>
              <a:t>CUSTOMER-OWNED</a:t>
            </a:r>
            <a:endParaRPr lang="en-US" sz="830" dirty="0"/>
          </a:p>
        </p:txBody>
      </p:sp>
      <p:sp>
        <p:nvSpPr>
          <p:cNvPr id="52" name="Text 50"/>
          <p:cNvSpPr/>
          <p:nvPr/>
        </p:nvSpPr>
        <p:spPr>
          <a:xfrm>
            <a:off x="1143000" y="605332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C2F2"/>
                </a:solidFill>
              </a:rPr>
              <a:t>Optimization: Browser → physical device → cloud device only when stronger proof is necessary.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SECURITY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plane and untrusted code execution are separate trust zones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4846320" cy="3611880"/>
          </a:xfrm>
          <a:prstGeom prst="roundRect">
            <a:avLst>
              <a:gd name="adj" fmla="val 2025"/>
            </a:avLst>
          </a:prstGeom>
          <a:solidFill>
            <a:srgbClr val="EEF0FF"/>
          </a:solidFill>
          <a:ln w="1905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87552" y="20482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5FEF"/>
                </a:solidFill>
              </a:rPr>
              <a:t>CONTROL PLANE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578608"/>
            <a:ext cx="420624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Auth / org / workspace / project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Git / policy / billing / audit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No user-generated code execution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Private data services and deployment authority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01968" y="1828800"/>
            <a:ext cx="4846320" cy="3611880"/>
          </a:xfrm>
          <a:prstGeom prst="roundRect">
            <a:avLst>
              <a:gd name="adj" fmla="val 2025"/>
            </a:avLst>
          </a:prstGeom>
          <a:solidFill>
            <a:srgbClr val="FFF4EA"/>
          </a:solidFill>
          <a:ln w="1905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76288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43"/>
                </a:solidFill>
              </a:rPr>
              <a:t>SANDBOX / BUILD PLANE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76288" y="2578608"/>
            <a:ext cx="420624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Ephemeral isolated workspace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CPU / RAM / disk / process quotas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Network egress allow policy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Short-lived brokered credentials; destroy after task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32704" y="3621024"/>
            <a:ext cx="905256" cy="0"/>
          </a:xfrm>
          <a:prstGeom prst="line">
            <a:avLst/>
          </a:prstGeom>
          <a:noFill/>
          <a:ln w="29210">
            <a:solidFill>
              <a:srgbClr val="EF4444"/>
            </a:solidFill>
            <a:prstDash val="dash"/>
            <a:headEnd type="none"/>
            <a:tailEnd type="triangle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10328" y="37947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F4444"/>
                </a:solidFill>
              </a:rPr>
              <a:t>Policy-gated tools only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TOOLS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and external tools pass through a deny-by-default policy + secret broker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The model sees capabilities, not raw production credentials.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2331720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" y="244144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Agent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" y="277063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tool request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58568" y="2670048"/>
            <a:ext cx="530352" cy="0"/>
          </a:xfrm>
          <a:prstGeom prst="line">
            <a:avLst/>
          </a:prstGeom>
          <a:noFill/>
          <a:ln w="22860">
            <a:solidFill>
              <a:srgbClr val="27C2F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852928" y="2331720"/>
            <a:ext cx="1920240" cy="685800"/>
          </a:xfrm>
          <a:prstGeom prst="roundRect">
            <a:avLst>
              <a:gd name="adj" fmla="val 9333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26080" y="244144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Tool Policy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44368" y="2770632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risk • scope • approval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64608" y="2670048"/>
            <a:ext cx="530352" cy="0"/>
          </a:xfrm>
          <a:prstGeom prst="line">
            <a:avLst/>
          </a:prstGeom>
          <a:noFill/>
          <a:ln w="22860">
            <a:solidFill>
              <a:srgbClr val="5B5FE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468112" y="2331720"/>
            <a:ext cx="1920240" cy="685800"/>
          </a:xfrm>
          <a:prstGeom prst="roundRect">
            <a:avLst>
              <a:gd name="adj" fmla="val 9333"/>
            </a:avLst>
          </a:prstGeom>
          <a:solidFill>
            <a:srgbClr val="151F38"/>
          </a:solidFill>
          <a:ln w="1778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541264" y="244144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Registry / MCP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59552" y="2770632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versioned schema + provider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79792" y="2670048"/>
            <a:ext cx="530352" cy="0"/>
          </a:xfrm>
          <a:prstGeom prst="line">
            <a:avLst/>
          </a:prstGeom>
          <a:noFill/>
          <a:ln w="22860">
            <a:solidFill>
              <a:srgbClr val="8B5C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083296" y="2331720"/>
            <a:ext cx="1600200" cy="685800"/>
          </a:xfrm>
          <a:prstGeom prst="roundRect">
            <a:avLst>
              <a:gd name="adj" fmla="val 9333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156448" y="244144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Secret Broker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74736" y="2770632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scoped credential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774936" y="2670048"/>
            <a:ext cx="493776" cy="0"/>
          </a:xfrm>
          <a:prstGeom prst="line">
            <a:avLst/>
          </a:prstGeom>
          <a:noFill/>
          <a:ln w="22860">
            <a:solidFill>
              <a:srgbClr val="FF9F4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314432" y="2331720"/>
            <a:ext cx="1234440" cy="685800"/>
          </a:xfrm>
          <a:prstGeom prst="roundRect">
            <a:avLst>
              <a:gd name="adj" fmla="val 9333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387584" y="2441448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Tool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405872" y="2770632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Git / Stripe / cloud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8368" y="3913632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85800" y="3941064"/>
            <a:ext cx="64008" cy="841248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59536" y="405993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Identity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859536" y="4462272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5C0D8"/>
                </a:solidFill>
              </a:rPr>
              <a:t>tool ID + version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47288" y="3913632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474720" y="3941064"/>
            <a:ext cx="64008" cy="84124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648456" y="405993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Risk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3648456" y="4462272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5C0D8"/>
                </a:solidFill>
              </a:rPr>
              <a:t>read/write/execute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36208" y="3913632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263640" y="3941064"/>
            <a:ext cx="64008" cy="841248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37376" y="405993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Authorization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6437376" y="4462272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5C0D8"/>
                </a:solidFill>
              </a:rPr>
              <a:t>agent/workspace/user scope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025128" y="3913632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052560" y="3941064"/>
            <a:ext cx="64008" cy="841248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9226296" y="405993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Network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9226296" y="4462272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5C0D8"/>
                </a:solidFill>
              </a:rPr>
              <a:t>approved destinations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58368" y="5029200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85800" y="5056632"/>
            <a:ext cx="64008" cy="8412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59536" y="517550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Secrets</a:t>
            </a:r>
            <a:endParaRPr lang="en-US" sz="1080" dirty="0"/>
          </a:p>
        </p:txBody>
      </p:sp>
      <p:sp>
        <p:nvSpPr>
          <p:cNvPr id="48" name="Text 46"/>
          <p:cNvSpPr/>
          <p:nvPr/>
        </p:nvSpPr>
        <p:spPr>
          <a:xfrm>
            <a:off x="859536" y="5577840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5C0D8"/>
                </a:solidFill>
              </a:rPr>
              <a:t>names/scopes — not values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447288" y="5029200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3474720" y="5056632"/>
            <a:ext cx="64008" cy="8412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3648456" y="517550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Limits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3648456" y="5577840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5C0D8"/>
                </a:solidFill>
              </a:rPr>
              <a:t>rate/cost/timeout/retry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36208" y="5029200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6263640" y="5056632"/>
            <a:ext cx="64008" cy="8412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437376" y="517550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Audit</a:t>
            </a:r>
            <a:endParaRPr lang="en-US" sz="1080" dirty="0"/>
          </a:p>
        </p:txBody>
      </p:sp>
      <p:sp>
        <p:nvSpPr>
          <p:cNvPr id="56" name="Text 54"/>
          <p:cNvSpPr/>
          <p:nvPr/>
        </p:nvSpPr>
        <p:spPr>
          <a:xfrm>
            <a:off x="6437376" y="5577840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5C0D8"/>
                </a:solidFill>
              </a:rPr>
              <a:t>event + approval retention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SAFETY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IMPACT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 Impact Engine predicts the allowed blast radius before the coder edits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16642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13232" y="207568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Request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04288" y="2377440"/>
            <a:ext cx="201168" cy="0"/>
          </a:xfrm>
          <a:prstGeom prst="line">
            <a:avLst/>
          </a:prstGeom>
          <a:noFill/>
          <a:ln w="16510">
            <a:solidFill>
              <a:srgbClr val="A7B3C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505456" y="1965960"/>
            <a:ext cx="16642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78608" y="207568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Map to IR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69664" y="2377440"/>
            <a:ext cx="201168" cy="0"/>
          </a:xfrm>
          <a:prstGeom prst="line">
            <a:avLst/>
          </a:prstGeom>
          <a:noFill/>
          <a:ln w="16510">
            <a:solidFill>
              <a:srgbClr val="A7B3C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370832" y="1965960"/>
            <a:ext cx="16642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778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443984" y="207568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Symbol / dependency graph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2377440"/>
            <a:ext cx="201168" cy="0"/>
          </a:xfrm>
          <a:prstGeom prst="line">
            <a:avLst/>
          </a:prstGeom>
          <a:noFill/>
          <a:ln w="16510">
            <a:solidFill>
              <a:srgbClr val="A7B3C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36208" y="1965960"/>
            <a:ext cx="16642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09360" y="207568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Affected modules/APIs/DB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00416" y="2377440"/>
            <a:ext cx="201168" cy="0"/>
          </a:xfrm>
          <a:prstGeom prst="line">
            <a:avLst/>
          </a:prstGeom>
          <a:noFill/>
          <a:ln w="16510">
            <a:solidFill>
              <a:srgbClr val="A7B3C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101584" y="1965960"/>
            <a:ext cx="16642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74736" y="207568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Tests + risk class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765792" y="2377440"/>
            <a:ext cx="201168" cy="0"/>
          </a:xfrm>
          <a:prstGeom prst="line">
            <a:avLst/>
          </a:prstGeom>
          <a:noFill/>
          <a:ln w="16510">
            <a:solidFill>
              <a:srgbClr val="A7B3C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966960" y="1965960"/>
            <a:ext cx="16642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40112" y="207568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Allow patch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" y="352044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50392" y="3547872"/>
            <a:ext cx="64008" cy="14538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24128" y="3666744"/>
            <a:ext cx="4636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Expected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4128" y="4069080"/>
            <a:ext cx="4636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“Change login button color” → design token + visual baseline only.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352044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382512" y="3547872"/>
            <a:ext cx="64008" cy="1453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56248" y="3666744"/>
            <a:ext cx="4636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Reject / escalate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56248" y="4069080"/>
            <a:ext cx="4636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If auth/backend/database changes appear, reject or require explicit impact expansion.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977640" y="5349240"/>
            <a:ext cx="416052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050792" y="5458968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After edit: actual diff vs expected blast radius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069080" y="57881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compile • tests • security • review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SAFETY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EDITING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editing reduces token use, merge conflicts and accidental regression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Full-file rewrite is a controlled fallback — not the default.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3474720" cy="1115568"/>
          </a:xfrm>
          <a:prstGeom prst="roundRect">
            <a:avLst>
              <a:gd name="adj" fmla="val 65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67512" y="1856232"/>
            <a:ext cx="64008" cy="1060704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1248" y="197510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</a:rPr>
              <a:t>TypeScript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841248" y="2377440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5C0D8"/>
                </a:solidFill>
              </a:rPr>
              <a:t>TS compiler API / ts-morph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25696" y="1828800"/>
            <a:ext cx="3474720" cy="1115568"/>
          </a:xfrm>
          <a:prstGeom prst="roundRect">
            <a:avLst>
              <a:gd name="adj" fmla="val 65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53128" y="1856232"/>
            <a:ext cx="64008" cy="1060704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26864" y="197510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</a:rPr>
              <a:t>Dart/Flutter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4626864" y="2377440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5C0D8"/>
                </a:solidFill>
              </a:rPr>
              <a:t>analyzer AST / tree-sitter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11312" y="1828800"/>
            <a:ext cx="3474720" cy="1115568"/>
          </a:xfrm>
          <a:prstGeom prst="roundRect">
            <a:avLst>
              <a:gd name="adj" fmla="val 65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38744" y="1856232"/>
            <a:ext cx="64008" cy="106070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0" y="197510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</a:rPr>
              <a:t>Kotlin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8412480" y="2377440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5C0D8"/>
                </a:solidFill>
              </a:rPr>
              <a:t>PSI + tree-sitter index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218688"/>
            <a:ext cx="3474720" cy="1115568"/>
          </a:xfrm>
          <a:prstGeom prst="roundRect">
            <a:avLst>
              <a:gd name="adj" fmla="val 65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67512" y="3246120"/>
            <a:ext cx="64008" cy="106070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41248" y="3364992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</a:rPr>
              <a:t>Swift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841248" y="3767328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5C0D8"/>
                </a:solidFill>
              </a:rPr>
              <a:t>SwiftSyntax + tree-sitter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25696" y="3218688"/>
            <a:ext cx="3474720" cy="1115568"/>
          </a:xfrm>
          <a:prstGeom prst="roundRect">
            <a:avLst>
              <a:gd name="adj" fmla="val 65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453128" y="3246120"/>
            <a:ext cx="64008" cy="10607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26864" y="3364992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</a:rPr>
              <a:t>Python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4626864" y="3767328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5C0D8"/>
                </a:solidFill>
              </a:rPr>
              <a:t>LibCST / ast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11312" y="3218688"/>
            <a:ext cx="3474720" cy="1115568"/>
          </a:xfrm>
          <a:prstGeom prst="roundRect">
            <a:avLst>
              <a:gd name="adj" fmla="val 65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238744" y="3246120"/>
            <a:ext cx="64008" cy="1060704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412480" y="3364992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</a:rPr>
              <a:t>Go</a:t>
            </a:r>
            <a:endParaRPr lang="en-US" sz="1160" dirty="0"/>
          </a:p>
        </p:txBody>
      </p:sp>
      <p:sp>
        <p:nvSpPr>
          <p:cNvPr id="33" name="Text 31"/>
          <p:cNvSpPr/>
          <p:nvPr/>
        </p:nvSpPr>
        <p:spPr>
          <a:xfrm>
            <a:off x="8412480" y="3767328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5C0D8"/>
                </a:solidFill>
              </a:rPr>
              <a:t>go/ast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60120" y="4892040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Preferred patch scope: symbol / function / route / migration — backed by compiler and tests.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057400" y="5504688"/>
            <a:ext cx="8092440" cy="566928"/>
          </a:xfrm>
          <a:prstGeom prst="roundRect">
            <a:avLst>
              <a:gd name="adj" fmla="val 1290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2084832" y="5532120"/>
            <a:ext cx="64008" cy="512064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258568" y="5650992"/>
            <a:ext cx="7744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 effect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258568" y="6053328"/>
            <a:ext cx="7744968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5C0D8"/>
                </a:solidFill>
              </a:rPr>
              <a:t>Smaller context + smaller diff + fewer retries = lower model and verification spend.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MEMORY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MEMORY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 is the interface. Project memory is the engineering brain.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4343400" cy="3429000"/>
          </a:xfrm>
          <a:prstGeom prst="roundRect">
            <a:avLst>
              <a:gd name="adj" fmla="val 2133"/>
            </a:avLst>
          </a:prstGeom>
          <a:solidFill>
            <a:srgbClr val="FFF6EF"/>
          </a:solidFill>
          <a:ln w="1651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21396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43"/>
                </a:solidFill>
              </a:rPr>
              <a:t>CHAT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697480"/>
            <a:ext cx="365760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questions + brainstorming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temporary alternatives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conversation chronology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helpful for humans — not canonical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4983480" cy="3429000"/>
          </a:xfrm>
          <a:prstGeom prst="roundRect">
            <a:avLst>
              <a:gd name="adj" fmla="val 2133"/>
            </a:avLst>
          </a:prstGeom>
          <a:solidFill>
            <a:srgbClr val="EEF0FF"/>
          </a:solidFill>
          <a:ln w="1651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75120" y="2139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5FEF"/>
                </a:solidFill>
              </a:rPr>
              <a:t>PROJECT MEMORY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2697480"/>
            <a:ext cx="425196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IR + accepted requirements + ADRs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Git + symbols + dependencies + contracts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tests + builds + deployments + incidents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evidence-backed memory revalidated at current commit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57800" y="3611880"/>
            <a:ext cx="978408" cy="0"/>
          </a:xfrm>
          <a:prstGeom prst="line">
            <a:avLst/>
          </a:prstGeom>
          <a:noFill/>
          <a:ln w="25400">
            <a:solidFill>
              <a:srgbClr val="5B5FE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92040" y="3822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5FEF"/>
                </a:solidFill>
              </a:rPr>
              <a:t>Accepted decision → promote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63040" y="57150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“The AI should remember the software, not the conversation.”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MEMORY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AUTHORITY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has an authority order — so stale chat cannot override current software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Embeddings locate candidates; authoritative artifacts establish truth.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88720" y="171907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22C55E"/>
          </a:solidFill>
          <a:ln w="762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3584" y="177393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0" y="175564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Current Git + contracts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0" y="1792224"/>
            <a:ext cx="466344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88720" y="213969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43584" y="2194560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28800" y="217627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Application IR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0" y="2212848"/>
            <a:ext cx="4313682" cy="109728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188720" y="256032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43584" y="2615184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0" y="259689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Accepted requirements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52160" y="2633472"/>
            <a:ext cx="3963924" cy="109728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88720" y="298094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762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43584" y="3035808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28800" y="301752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ADRs / policies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52160" y="3054096"/>
            <a:ext cx="3614166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188720" y="3401568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243584" y="3456432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0" y="343814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DB / API schema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52160" y="3474720"/>
            <a:ext cx="326440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188720" y="382219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243584" y="387705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28800" y="385876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Tests / baselines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52160" y="3895344"/>
            <a:ext cx="2914650" cy="109728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188720" y="424281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C4899"/>
          </a:solidFill>
          <a:ln w="762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243584" y="4297680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828800" y="427939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Runtime evidence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52160" y="4315968"/>
            <a:ext cx="2564892" cy="1097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188720" y="466344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243584" y="4718304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828800" y="470001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Git / task history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52160" y="4736592"/>
            <a:ext cx="2215134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188720" y="508406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ACC15"/>
          </a:solidFill>
          <a:ln w="762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43584" y="5138928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9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828800" y="51206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Evidence-backed memories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52160" y="5157216"/>
            <a:ext cx="1865376" cy="10972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188720" y="5504688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64748B"/>
          </a:solidFill>
          <a:ln w="762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243584" y="5559552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10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828800" y="554126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Raw historical chat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852160" y="5577840"/>
            <a:ext cx="151561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7406640" y="5394960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7434072" y="5422392"/>
            <a:ext cx="64008" cy="658368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607808" y="554126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Memory revalidation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607808" y="5943600"/>
            <a:ext cx="3172968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B5C0D8"/>
                </a:solidFill>
              </a:rPr>
              <a:t>fact + source refs + last verified commit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MEMORY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CONTEXT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Engine builds a bounded task-specific Context Pack — progressively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" y="2148840"/>
            <a:ext cx="150876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4632" y="22585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Issue understanding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587752"/>
            <a:ext cx="1325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small/structured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29384" y="2624328"/>
            <a:ext cx="109728" cy="0"/>
          </a:xfrm>
          <a:prstGeom prst="line">
            <a:avLst/>
          </a:prstGeom>
          <a:noFill/>
          <a:ln w="12700">
            <a:solidFill>
              <a:srgbClr val="A8B4C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075688" y="2148840"/>
            <a:ext cx="150876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148840" y="22585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Deterministic lookup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67128" y="2587752"/>
            <a:ext cx="1325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Git • LSP • schema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93592" y="2624328"/>
            <a:ext cx="109728" cy="0"/>
          </a:xfrm>
          <a:prstGeom prst="line">
            <a:avLst/>
          </a:prstGeom>
          <a:noFill/>
          <a:ln w="12700">
            <a:solidFill>
              <a:srgbClr val="A8B4C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739896" y="2148840"/>
            <a:ext cx="150876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813048" y="22585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Semantic locate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31336" y="2587752"/>
            <a:ext cx="1325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pgvector chunks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57800" y="2624328"/>
            <a:ext cx="109728" cy="0"/>
          </a:xfrm>
          <a:prstGeom prst="line">
            <a:avLst/>
          </a:prstGeom>
          <a:noFill/>
          <a:ln w="12700">
            <a:solidFill>
              <a:srgbClr val="A8B4C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04104" y="2148840"/>
            <a:ext cx="150876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778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77256" y="22585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Graph expansion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95544" y="2587752"/>
            <a:ext cx="1325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call/dependency/test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22008" y="2624328"/>
            <a:ext cx="109728" cy="0"/>
          </a:xfrm>
          <a:prstGeom prst="line">
            <a:avLst/>
          </a:prstGeom>
          <a:noFill/>
          <a:ln w="12700">
            <a:solidFill>
              <a:srgbClr val="A8B4C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068312" y="2148840"/>
            <a:ext cx="150876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141464" y="22585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Memory evidence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59752" y="2587752"/>
            <a:ext cx="1325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IR • ADR • runtime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586216" y="2624328"/>
            <a:ext cx="109728" cy="0"/>
          </a:xfrm>
          <a:prstGeom prst="line">
            <a:avLst/>
          </a:prstGeom>
          <a:noFill/>
          <a:ln w="12700">
            <a:solidFill>
              <a:srgbClr val="A8B4C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732520" y="2148840"/>
            <a:ext cx="150876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805672" y="22585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Context Pack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823960" y="2587752"/>
            <a:ext cx="1325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budgeted evidence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250424" y="2624328"/>
            <a:ext cx="109728" cy="0"/>
          </a:xfrm>
          <a:prstGeom prst="line">
            <a:avLst/>
          </a:prstGeom>
          <a:noFill/>
          <a:ln w="12700">
            <a:solidFill>
              <a:srgbClr val="A8B4C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396728" y="2148840"/>
            <a:ext cx="1508760" cy="941832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778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469880" y="22585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Reason / patch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488168" y="2587752"/>
            <a:ext cx="1325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cheapest capable model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1520" y="379476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58952" y="3822192"/>
            <a:ext cx="64008" cy="1362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32688" y="394106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Do not bulk-send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2688" y="434340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</a:rPr>
              <a:t>A 1M-line project can become a 20–50K-token context pack for a scoped bug.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>
            <a:off x="4443984" y="379476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471416" y="3822192"/>
            <a:ext cx="64008" cy="136245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645152" y="394106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Progressive fetch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645152" y="434340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</a:rPr>
              <a:t>Model asks readSymbol / findRefs / getADR only when needed.</a:t>
            </a:r>
            <a:endParaRPr lang="en-US" sz="1170" dirty="0"/>
          </a:p>
        </p:txBody>
      </p:sp>
      <p:sp>
        <p:nvSpPr>
          <p:cNvPr id="44" name="Shape 42"/>
          <p:cNvSpPr/>
          <p:nvPr/>
        </p:nvSpPr>
        <p:spPr>
          <a:xfrm>
            <a:off x="8156448" y="379476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8183880" y="3822192"/>
            <a:ext cx="64008" cy="1362456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357616" y="394106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Long-run compaction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357616" y="434340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</a:rPr>
              <a:t>Condense completed work, keep evidence IDs and unresolved state.</a:t>
            </a:r>
            <a:endParaRPr lang="en-US" sz="1170" dirty="0"/>
          </a:p>
        </p:txBody>
      </p:sp>
      <p:sp>
        <p:nvSpPr>
          <p:cNvPr id="48" name="Text 46"/>
          <p:cNvSpPr/>
          <p:nvPr/>
        </p:nvSpPr>
        <p:spPr>
          <a:xfrm>
            <a:off x="960120" y="5742432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B5FEF"/>
                </a:solidFill>
              </a:rPr>
              <a:t>Project size may grow dramatically while each model interaction stays focused and cost-controlled.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MAINTENANCE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INCIDENT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Large-project maintenance: fix a checkout crash months later without replaying months of chat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Example: coupon + Stripe causes production checkout crash.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167335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6656" y="172821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52144" y="1636776"/>
            <a:ext cx="2057400" cy="502920"/>
          </a:xfrm>
          <a:prstGeom prst="roundRect">
            <a:avLst>
              <a:gd name="adj" fmla="val 12727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25296" y="1746504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Identify production build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46704" y="17190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EBBD2"/>
                </a:solidFill>
              </a:rPr>
              <a:t>deployment + commit + IR + DB version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6199632" y="167335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C4899"/>
          </a:solidFill>
          <a:ln w="762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54496" y="172821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29984" y="1636776"/>
            <a:ext cx="2057400" cy="502920"/>
          </a:xfrm>
          <a:prstGeom prst="roundRect">
            <a:avLst>
              <a:gd name="adj" fmla="val 12727"/>
            </a:avLst>
          </a:prstGeom>
          <a:solidFill>
            <a:srgbClr val="151F38"/>
          </a:solidFill>
          <a:ln w="1778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03136" y="1746504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Collect evidence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24544" y="17190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EBBD2"/>
                </a:solidFill>
              </a:rPr>
              <a:t>crash + trace + device + API failure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21792" y="25146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76656" y="2569464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52144" y="2478024"/>
            <a:ext cx="2057400" cy="502920"/>
          </a:xfrm>
          <a:prstGeom prst="roundRect">
            <a:avLst>
              <a:gd name="adj" fmla="val 12727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25296" y="2587752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Build Context Pack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46704" y="2560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EBBD2"/>
                </a:solidFill>
              </a:rPr>
              <a:t>requirements + ADRs + symbols + recent commits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6199632" y="25146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54496" y="2569464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29984" y="2478024"/>
            <a:ext cx="2057400" cy="502920"/>
          </a:xfrm>
          <a:prstGeom prst="roundRect">
            <a:avLst>
              <a:gd name="adj" fmla="val 12727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03136" y="2587752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Impact boundary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924544" y="2560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EBBD2"/>
                </a:solidFill>
              </a:rPr>
              <a:t>checkout + pricing + payment + tests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21792" y="335584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76656" y="3410712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5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152144" y="3319272"/>
            <a:ext cx="2057400" cy="502920"/>
          </a:xfrm>
          <a:prstGeom prst="roundRect">
            <a:avLst>
              <a:gd name="adj" fmla="val 12727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225296" y="3429000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Reproduce in sandbox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46704" y="3401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EBBD2"/>
                </a:solidFill>
              </a:rPr>
              <a:t>exact failing path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199632" y="335584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 w="762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54496" y="3410712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6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29984" y="3319272"/>
            <a:ext cx="2057400" cy="502920"/>
          </a:xfrm>
          <a:prstGeom prst="roundRect">
            <a:avLst>
              <a:gd name="adj" fmla="val 12727"/>
            </a:avLst>
          </a:prstGeom>
          <a:solidFill>
            <a:srgbClr val="151F38"/>
          </a:solidFill>
          <a:ln w="1778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803136" y="3429000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Structured patch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924544" y="3401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EBBD2"/>
                </a:solidFill>
              </a:rPr>
              <a:t>minimal diff on task branch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621792" y="419709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762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76656" y="4251960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7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52144" y="4160520"/>
            <a:ext cx="2057400" cy="502920"/>
          </a:xfrm>
          <a:prstGeom prst="roundRect">
            <a:avLst>
              <a:gd name="adj" fmla="val 12727"/>
            </a:avLst>
          </a:prstGeom>
          <a:solidFill>
            <a:srgbClr val="151F38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25296" y="4270248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Verify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346704" y="42428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EBBD2"/>
                </a:solidFill>
              </a:rPr>
              <a:t>tests + security + blast radius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6199632" y="419709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254496" y="4251960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8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729984" y="4160520"/>
            <a:ext cx="2057400" cy="502920"/>
          </a:xfrm>
          <a:prstGeom prst="roundRect">
            <a:avLst>
              <a:gd name="adj" fmla="val 12727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803136" y="4270248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Browser preview first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924544" y="42428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EBBD2"/>
                </a:solidFill>
              </a:rPr>
              <a:t>then QR/device only if needed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621792" y="503834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76656" y="5093208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9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152144" y="5001768"/>
            <a:ext cx="2057400" cy="502920"/>
          </a:xfrm>
          <a:prstGeom prst="roundRect">
            <a:avLst>
              <a:gd name="adj" fmla="val 12727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225296" y="5111496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 → staging → production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3346704" y="50840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EBBD2"/>
                </a:solidFill>
              </a:rPr>
              <a:t>immutable release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6199632" y="503834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254496" y="5093208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10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729984" y="5001768"/>
            <a:ext cx="2057400" cy="502920"/>
          </a:xfrm>
          <a:prstGeom prst="roundRect">
            <a:avLst>
              <a:gd name="adj" fmla="val 12727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803136" y="5111496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Persist incident memory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8924544" y="50840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EBBD2"/>
                </a:solidFill>
              </a:rPr>
              <a:t>cause + fix + tests + release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ECONOMICS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LLM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escalation ladder: deterministic software first, expensive reasoning last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49808" y="173736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1792224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00200" y="1700784"/>
            <a:ext cx="2514600" cy="539496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673352" y="181051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Deterministic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43400" y="181965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AST • compiler • Git • schema • test parser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10149840" y="1737360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204704" y="1792224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020"/>
                </a:solidFill>
              </a:rPr>
              <a:t>$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49808" y="2523744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4672" y="2578608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00200" y="2487168"/>
            <a:ext cx="2514600" cy="539496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73352" y="259689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Small model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43400" y="26060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classification • ranking • summaries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10149840" y="2523744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204704" y="2578608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020"/>
                </a:solidFill>
              </a:rPr>
              <a:t>$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49808" y="3310128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04672" y="3364992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00200" y="3273552"/>
            <a:ext cx="2514600" cy="539496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673352" y="33832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Coding model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43400" y="33924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normal scoped implementation / repair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10149840" y="3310128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204704" y="3364992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020"/>
                </a:solidFill>
              </a:rPr>
              <a:t>$$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49808" y="4096512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151376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00200" y="4059936"/>
            <a:ext cx="2514600" cy="539496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673352" y="4169664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Strong reasoning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343400" y="417880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architecture • security • hard debugging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10149840" y="4096512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204704" y="4151376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020"/>
                </a:solidFill>
              </a:rPr>
              <a:t>$$$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749808" y="4882896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EC4899"/>
          </a:solidFill>
          <a:ln w="762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04672" y="493776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00200" y="4846320"/>
            <a:ext cx="2514600" cy="539496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778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673352" y="495604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Independent review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343400" y="496519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</a:rPr>
              <a:t>critical release / payment / signing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10149840" y="4882896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EC4899"/>
          </a:solidFill>
          <a:ln w="762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0204704" y="4937760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020"/>
                </a:solidFill>
              </a:rPr>
              <a:t>$$$$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2926080" y="5650992"/>
            <a:ext cx="6309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2953512" y="5678424"/>
            <a:ext cx="64008" cy="5394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127248" y="5797296"/>
            <a:ext cx="596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Goal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127248" y="6199632"/>
            <a:ext cx="5961888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Measure cost per accepted verified task — not tokens consumed or agents activated.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ECONOMICS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29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BUDGET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task has a Context Budget + Retry Budget + Compute Budget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Cost control is a platform service, not a billing afterthought.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1856232"/>
            <a:ext cx="64008" cy="204825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50976" y="197510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Context Budget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0976" y="2377440"/>
            <a:ext cx="2944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core policy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project summary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requirements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code chunks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logs/history on demand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62272" y="1856232"/>
            <a:ext cx="64008" cy="204825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36008" y="197510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Retry Budget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36008" y="2377440"/>
            <a:ext cx="2944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hard model retry limit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provider circuit breaker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workflow resume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idempotent external actions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19872" y="182880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47304" y="1856232"/>
            <a:ext cx="64008" cy="2048256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21040" y="197510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Compute Budget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2377440"/>
            <a:ext cx="2944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browser 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Linux only when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Android on demand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macOS only for Apple work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" y="466344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151E35"/>
          </a:solidFill>
          <a:ln w="10160">
            <a:solidFill>
              <a:srgbClr val="2B385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0392" y="47731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5FEF"/>
                </a:solidFill>
              </a:rPr>
              <a:t>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0392" y="5266944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5CC"/>
                </a:solidFill>
              </a:rPr>
              <a:t>Input tokens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569464" y="466344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151E35"/>
          </a:solidFill>
          <a:ln w="10160">
            <a:solidFill>
              <a:srgbClr val="2B385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706624" y="47731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</a:rPr>
              <a:t>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706624" y="5266944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5CC"/>
                </a:solidFill>
              </a:rPr>
              <a:t>Model escalation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425696" y="466344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151E35"/>
          </a:solidFill>
          <a:ln w="10160">
            <a:solidFill>
              <a:srgbClr val="2B385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62856" y="47731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C7A3"/>
                </a:solidFill>
              </a:rPr>
              <a:t>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562856" y="5266944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5CC"/>
                </a:solidFill>
              </a:rPr>
              <a:t>Linux minutes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281928" y="466344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151E35"/>
          </a:solidFill>
          <a:ln w="10160">
            <a:solidFill>
              <a:srgbClr val="2B3855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19088" y="47731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F43"/>
                </a:solidFill>
              </a:rPr>
              <a:t>↓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19088" y="5266944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5CC"/>
                </a:solidFill>
              </a:rPr>
              <a:t>Mac minutes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8138160" y="466344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151E35"/>
          </a:solidFill>
          <a:ln w="10160">
            <a:solidFill>
              <a:srgbClr val="2B385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75320" y="47731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C2F2"/>
                </a:solidFill>
              </a:rPr>
              <a:t>↓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75320" y="5266944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5CC"/>
                </a:solidFill>
              </a:rPr>
              <a:t>Cloud devices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9994392" y="466344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151E35"/>
          </a:solidFill>
          <a:ln w="10160">
            <a:solidFill>
              <a:srgbClr val="2B3855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131552" y="47731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↑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131552" y="5266944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5CC"/>
                </a:solidFill>
              </a:rPr>
              <a:t>Success rate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PREVIEW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VERIFICATION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UX hard rule: Instant Browser Preview always comes before QR / cloud device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171907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98448" y="1645920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71600" y="17556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Static checks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389888" y="2084832"/>
            <a:ext cx="256032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automatic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0" y="17282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lint • typecheck • tests • security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10058400" y="1664208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113264" y="1719072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$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24963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94944" y="255117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98448" y="2478024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371600" y="258775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Instant Browser Preview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389888" y="2916936"/>
            <a:ext cx="256032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ALWAYS VISIBLE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97680" y="2560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real web or interactive mobile representation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10058400" y="2496312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113264" y="2551176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$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" y="33284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4944" y="33832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98448" y="3310128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371600" y="341985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Test on My Phone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389888" y="3749040"/>
            <a:ext cx="256032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optional / recommended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297680" y="33924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Expo QR • APK QR • TestFlight/dev build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10058400" y="3328416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113264" y="3383280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$$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0080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94944" y="421538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298448" y="4142232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371600" y="425196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Cloud Android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389888" y="4581144"/>
            <a:ext cx="256032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optional / metered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297680" y="42245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emulator for OS-specific debug/QA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10058400" y="416052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113264" y="4215384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$$$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" y="49926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C4899"/>
          </a:solidFill>
          <a:ln w="762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94944" y="504748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298448" y="4974336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778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371600" y="508406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Cloud iOS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389888" y="5413248"/>
            <a:ext cx="256032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optional / metered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297680" y="50566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Simulator/Xcode for iOS-specific debug/QA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10058400" y="4992624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EC4899"/>
          </a:solidFill>
          <a:ln w="762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0113264" y="504748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020"/>
                </a:solidFill>
              </a:rPr>
              <a:t>$$$$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05840" y="59893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B5FEF"/>
                </a:solidFill>
              </a:rPr>
              <a:t>Smart Verification chooses the lowest-cost level capable of proving the requested change.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EXPO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 / React Native: the strongest low-cost real-device loop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Build the native shell only when the native fingerprint changes.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01168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212140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patch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2450592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TS/React Native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0" y="2441448"/>
            <a:ext cx="210312" cy="0"/>
          </a:xfrm>
          <a:prstGeom prst="line">
            <a:avLst/>
          </a:prstGeom>
          <a:noFill/>
          <a:ln w="16510">
            <a:solidFill>
              <a:srgbClr val="69789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926080" y="201168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99232" y="212140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Browser / Expo preview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17520" y="2450592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instant feedback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0600" y="2441448"/>
            <a:ext cx="210312" cy="0"/>
          </a:xfrm>
          <a:prstGeom prst="line">
            <a:avLst/>
          </a:prstGeom>
          <a:noFill/>
          <a:ln w="16510">
            <a:solidFill>
              <a:srgbClr val="69789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166360" y="201168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39512" y="212140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57800" y="2450592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Expo Go / dev client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40880" y="2441448"/>
            <a:ext cx="210312" cy="0"/>
          </a:xfrm>
          <a:prstGeom prst="line">
            <a:avLst/>
          </a:prstGeom>
          <a:noFill/>
          <a:ln w="16510">
            <a:solidFill>
              <a:srgbClr val="69789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406640" y="201168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479792" y="212140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Real phone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98080" y="2450592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camera • GPS • sensors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281160" y="2441448"/>
            <a:ext cx="210312" cy="0"/>
          </a:xfrm>
          <a:prstGeom prst="line">
            <a:avLst/>
          </a:prstGeom>
          <a:noFill/>
          <a:ln w="16510">
            <a:solidFill>
              <a:srgbClr val="69789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646920" y="201168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720072" y="212140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Refresh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738360" y="2450592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JS/assets update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41248" y="3822192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68680" y="3849624"/>
            <a:ext cx="64008" cy="13167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42416" y="396849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rebuild for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42416" y="4370832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5C0D8"/>
                </a:solidFill>
              </a:rPr>
              <a:t>UI • JS business logic • many assets when native shell unchanged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62272" y="3822192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489704" y="3849624"/>
            <a:ext cx="64008" cy="131673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663440" y="396849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Rebuild when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370832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5C0D8"/>
                </a:solidFill>
              </a:rPr>
              <a:t>native module • manifest/config • SDK/runtime fingerprint changes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83296" y="3822192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110728" y="3849624"/>
            <a:ext cx="64008" cy="131673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284464" y="396849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284464" y="4370832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5C0D8"/>
                </a:solidFill>
              </a:rPr>
              <a:t>EAS/macOS build → signed binary → stores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PREVIEW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32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FLUTTER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Flutter: same browser-first philosophy, different real-device mechanics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Do not pretend Flutter has a universal Expo Go equivalent.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20574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075688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AI patch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24048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Dart / feature-first code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71216" y="2386584"/>
            <a:ext cx="557784" cy="0"/>
          </a:xfrm>
          <a:prstGeom prst="line">
            <a:avLst/>
          </a:prstGeom>
          <a:noFill/>
          <a:ln w="21590">
            <a:solidFill>
              <a:srgbClr val="5B5FE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493008" y="1965960"/>
            <a:ext cx="2148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66160" y="207568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Instant preview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84448" y="24048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Flutter Web when valid or IR browser renderer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24144" y="2386584"/>
            <a:ext cx="557784" cy="0"/>
          </a:xfrm>
          <a:prstGeom prst="line">
            <a:avLst/>
          </a:prstGeom>
          <a:noFill/>
          <a:ln w="21590">
            <a:solidFill>
              <a:srgbClr val="27C2F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345936" y="1965960"/>
            <a:ext cx="2148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19088" y="207568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User requests device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37376" y="24048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policy can recommend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577072" y="2386584"/>
            <a:ext cx="557784" cy="0"/>
          </a:xfrm>
          <a:prstGeom prst="line">
            <a:avLst/>
          </a:prstGeom>
          <a:noFill/>
          <a:ln w="21590">
            <a:solidFill>
              <a:srgbClr val="15C7A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98864" y="1965960"/>
            <a:ext cx="20574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272016" y="2075688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Build on demand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90304" y="24048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APK / TestFlight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9808" y="3840480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77240" y="3867912"/>
            <a:ext cx="64008" cy="1243584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50976" y="398678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Warm Flutter image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0976" y="4389120"/>
            <a:ext cx="21671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pre-installed SDK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511296" y="3840480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538728" y="3867912"/>
            <a:ext cx="64008" cy="1243584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712464" y="398678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pub cache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712464" y="4389120"/>
            <a:ext cx="21671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dependencies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72784" y="3840480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300216" y="3867912"/>
            <a:ext cx="64008" cy="124358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73952" y="398678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Gradle cache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73952" y="4389120"/>
            <a:ext cx="21671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Android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034272" y="3840480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061704" y="3867912"/>
            <a:ext cx="64008" cy="124358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235440" y="398678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macOS cache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235440" y="4389120"/>
            <a:ext cx="21671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iOS dependencies / DerivedData where safe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14400" y="577900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FEF"/>
                </a:solidFill>
              </a:rPr>
              <a:t>Result: real device confidence without paying native build cost on every UI iteration.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33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ANDROID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Native Android: Browser Preview → QR test APK → cloud emulator only when needed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The customer’s phone becomes the default real-device compute.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057400"/>
            <a:ext cx="1600200" cy="822960"/>
          </a:xfrm>
          <a:prstGeom prst="roundRect">
            <a:avLst>
              <a:gd name="adj" fmla="val 7778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463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Browser Preview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4963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UI / flow feedback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11680" y="2468880"/>
            <a:ext cx="173736" cy="0"/>
          </a:xfrm>
          <a:prstGeom prst="line">
            <a:avLst/>
          </a:prstGeom>
          <a:noFill/>
          <a:ln w="13970">
            <a:solidFill>
              <a:srgbClr val="68799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313432" y="2057400"/>
            <a:ext cx="1600200" cy="822960"/>
          </a:xfrm>
          <a:prstGeom prst="roundRect">
            <a:avLst>
              <a:gd name="adj" fmla="val 7778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386584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Build request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04872" y="24963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only on demand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13632" y="2468880"/>
            <a:ext cx="173736" cy="0"/>
          </a:xfrm>
          <a:prstGeom prst="line">
            <a:avLst/>
          </a:prstGeom>
          <a:noFill/>
          <a:ln w="13970">
            <a:solidFill>
              <a:srgbClr val="68799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215384" y="2057400"/>
            <a:ext cx="1600200" cy="822960"/>
          </a:xfrm>
          <a:prstGeom prst="roundRect">
            <a:avLst>
              <a:gd name="adj" fmla="val 7778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88536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Linux + Gradle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06824" y="24963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cached build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15584" y="2468880"/>
            <a:ext cx="173736" cy="0"/>
          </a:xfrm>
          <a:prstGeom prst="line">
            <a:avLst/>
          </a:prstGeom>
          <a:noFill/>
          <a:ln w="13970">
            <a:solidFill>
              <a:srgbClr val="68799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117336" y="2057400"/>
            <a:ext cx="1600200" cy="822960"/>
          </a:xfrm>
          <a:prstGeom prst="roundRect">
            <a:avLst>
              <a:gd name="adj" fmla="val 7778"/>
            </a:avLst>
          </a:prstGeom>
          <a:solidFill>
            <a:srgbClr val="151F38"/>
          </a:solidFill>
          <a:ln w="1778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190488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Secure artifact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08776" y="24963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signed test APK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17536" y="2468880"/>
            <a:ext cx="173736" cy="0"/>
          </a:xfrm>
          <a:prstGeom prst="line">
            <a:avLst/>
          </a:prstGeom>
          <a:noFill/>
          <a:ln w="13970">
            <a:solidFill>
              <a:srgbClr val="68799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19288" y="2057400"/>
            <a:ext cx="1600200" cy="822960"/>
          </a:xfrm>
          <a:prstGeom prst="roundRect">
            <a:avLst>
              <a:gd name="adj" fmla="val 7778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092440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10728" y="24963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short-lived URL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619488" y="2468880"/>
            <a:ext cx="173736" cy="0"/>
          </a:xfrm>
          <a:prstGeom prst="line">
            <a:avLst/>
          </a:prstGeom>
          <a:noFill/>
          <a:ln w="13970">
            <a:solidFill>
              <a:srgbClr val="68799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921240" y="2057400"/>
            <a:ext cx="1600200" cy="822960"/>
          </a:xfrm>
          <a:prstGeom prst="roundRect">
            <a:avLst>
              <a:gd name="adj" fmla="val 7778"/>
            </a:avLst>
          </a:prstGeom>
          <a:solidFill>
            <a:srgbClr val="151F38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99439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Real Android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012680" y="24963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actual device APIs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14400" y="402336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41832" y="4050792"/>
            <a:ext cx="64008" cy="1133856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115568" y="416966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it is cheaper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15568" y="4572000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5C0D8"/>
                </a:solidFill>
              </a:rPr>
              <a:t>Build worker runs for minutes, then is released. User phone supplies CPU/GPU/sensors during testing.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92240" y="402336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519672" y="4050792"/>
            <a:ext cx="64008" cy="113385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693408" y="416966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When emulator is worth it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93408" y="4572000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5C0D8"/>
                </a:solidFill>
              </a:rPr>
              <a:t>Android-version bugs • automated QA • support • no physical device • exact emulator state.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PREVIEW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34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IOS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Native iOS: Browser Preview → TestFlight/dev build → Simulator only when needed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Apple tooling cannot be removed; it can be allocated only when it produces real value.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1965960"/>
            <a:ext cx="1618488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07568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Browser Preview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2404872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UI / flow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02536" y="2414016"/>
            <a:ext cx="173736" cy="0"/>
          </a:xfrm>
          <a:prstGeom prst="line">
            <a:avLst/>
          </a:prstGeom>
          <a:noFill/>
          <a:ln w="13970">
            <a:solidFill>
              <a:srgbClr val="A1AFC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295144" y="1965960"/>
            <a:ext cx="1618488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368296" y="207568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Request real iPhone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86584" y="2404872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explicit user/policy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13632" y="2414016"/>
            <a:ext cx="173736" cy="0"/>
          </a:xfrm>
          <a:prstGeom prst="line">
            <a:avLst/>
          </a:prstGeom>
          <a:noFill/>
          <a:ln w="13970">
            <a:solidFill>
              <a:srgbClr val="A1AFC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206240" y="1965960"/>
            <a:ext cx="1618488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778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79392" y="207568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macOS + Xcode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97680" y="2404872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compile/test/archive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24728" y="2414016"/>
            <a:ext cx="173736" cy="0"/>
          </a:xfrm>
          <a:prstGeom prst="line">
            <a:avLst/>
          </a:prstGeom>
          <a:noFill/>
          <a:ln w="13970">
            <a:solidFill>
              <a:srgbClr val="A1AFC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117336" y="1965960"/>
            <a:ext cx="1618488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190488" y="207568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Signing Service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08776" y="2404872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keys never readable by agent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35824" y="2414016"/>
            <a:ext cx="173736" cy="0"/>
          </a:xfrm>
          <a:prstGeom prst="line">
            <a:avLst/>
          </a:prstGeom>
          <a:noFill/>
          <a:ln w="13970">
            <a:solidFill>
              <a:srgbClr val="A1AFC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28432" y="1965960"/>
            <a:ext cx="1618488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101584" y="207568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TestFlight / dev link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19872" y="2404872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QR / invitation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646920" y="2414016"/>
            <a:ext cx="173736" cy="0"/>
          </a:xfrm>
          <a:prstGeom prst="line">
            <a:avLst/>
          </a:prstGeom>
          <a:noFill/>
          <a:ln w="13970">
            <a:solidFill>
              <a:srgbClr val="A1AFC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939528" y="1965960"/>
            <a:ext cx="1618488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012680" y="207568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Real iPhone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030968" y="2404872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actual app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22960" y="3950208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50392" y="3977640"/>
            <a:ext cx="64008" cy="136245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24128" y="409651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Cloud Mac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24128" y="449884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shared worker pool; metered; used only for iOS compile/simulator/sign.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4453128" y="3950208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480560" y="3977640"/>
            <a:ext cx="64008" cy="136245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654296" y="409651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Local Mac Agent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54296" y="449884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customer opts in; own Xcode; lower OmniStackAI compute spend.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8083296" y="3950208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110728" y="3977640"/>
            <a:ext cx="64008" cy="136245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284464" y="409651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Simulator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84464" y="449884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optional debugging/QA tool — not the default preview path.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35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DEBUG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Remote Debug Bridge recovers emulator-like visibility from a real customer device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Opt-in telemetry makes physical-device testing both cheaper and diagnosable.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240280"/>
            <a:ext cx="2057400" cy="91440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2350008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Real Phone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26791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app build / dev client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07792" y="2697480"/>
            <a:ext cx="841248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840480" y="224028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913632" y="235000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Secure Debug Gateway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31920" y="267919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authenticated WebSocket / trace channel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62472" y="2697480"/>
            <a:ext cx="841248" cy="0"/>
          </a:xfrm>
          <a:prstGeom prst="line">
            <a:avLst/>
          </a:prstGeom>
          <a:noFill/>
          <a:ln w="25400">
            <a:solidFill>
              <a:srgbClr val="5B5FE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995160" y="2240280"/>
            <a:ext cx="2057400" cy="91440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68312" y="2350008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Project Evidence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86600" y="26791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logs • crash • network • device info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125712" y="2697480"/>
            <a:ext cx="841248" cy="0"/>
          </a:xfrm>
          <a:prstGeom prst="line">
            <a:avLst/>
          </a:prstGeom>
          <a:noFill/>
          <a:ln w="25400">
            <a:solidFill>
              <a:srgbClr val="27C2F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58400" y="224028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131552" y="235000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Fix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149840" y="26791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context pack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60120" y="4069080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14984" y="4123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crash stack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60904" y="4069080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715768" y="4123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network trace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361688" y="4069080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416552" y="4123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device / OS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62472" y="4069080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17336" y="4123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screenshots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763256" y="4069080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EC4899"/>
          </a:solidFill>
          <a:ln w="762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818120" y="4123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464040" y="4069080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22C55E"/>
          </a:solidFill>
          <a:ln w="762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518904" y="4123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redacted logs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234440" y="507492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Security: explicit opt-in • scoped project/device • redaction • retention limits • audit.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PREVIEW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36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POLICY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Verification escalates only when the change needs stronger proof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2754726" cy="637467"/>
          </a:xfrm>
          <a:prstGeom prst="rect">
            <a:avLst/>
          </a:prstGeom>
          <a:solidFill>
            <a:srgbClr val="E9EDFF"/>
          </a:solidFill>
          <a:ln w="6350">
            <a:solidFill>
              <a:srgbClr val="D4DC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1801368"/>
            <a:ext cx="2681574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Change example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13094" y="1755648"/>
            <a:ext cx="1377363" cy="637467"/>
          </a:xfrm>
          <a:prstGeom prst="rect">
            <a:avLst/>
          </a:prstGeom>
          <a:solidFill>
            <a:srgbClr val="E9EDFF"/>
          </a:solidFill>
          <a:ln w="6350">
            <a:solidFill>
              <a:srgbClr val="D4DC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49670" y="1801368"/>
            <a:ext cx="1304211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Browser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90457" y="1755648"/>
            <a:ext cx="1836484" cy="637467"/>
          </a:xfrm>
          <a:prstGeom prst="rect">
            <a:avLst/>
          </a:prstGeom>
          <a:solidFill>
            <a:srgbClr val="E9EDFF"/>
          </a:solidFill>
          <a:ln w="6350">
            <a:solidFill>
              <a:srgbClr val="D4DC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27033" y="1801368"/>
            <a:ext cx="1763332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Real device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26941" y="1755648"/>
            <a:ext cx="1836484" cy="637467"/>
          </a:xfrm>
          <a:prstGeom prst="rect">
            <a:avLst/>
          </a:prstGeom>
          <a:solidFill>
            <a:srgbClr val="E9EDFF"/>
          </a:solidFill>
          <a:ln w="6350">
            <a:solidFill>
              <a:srgbClr val="D4DC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63517" y="1801368"/>
            <a:ext cx="1763332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Cloud device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463425" y="1755648"/>
            <a:ext cx="3122023" cy="637467"/>
          </a:xfrm>
          <a:prstGeom prst="rect">
            <a:avLst/>
          </a:prstGeom>
          <a:solidFill>
            <a:srgbClr val="E9EDFF"/>
          </a:solidFill>
          <a:ln w="6350">
            <a:solidFill>
              <a:srgbClr val="D4DC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00001" y="1801368"/>
            <a:ext cx="3048871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Why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8368" y="2393115"/>
            <a:ext cx="2754726" cy="637467"/>
          </a:xfrm>
          <a:prstGeom prst="rect">
            <a:avLst/>
          </a:prstGeom>
          <a:solidFill>
            <a:srgbClr val="EEF0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04088" y="2434263"/>
            <a:ext cx="2663286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5FEF"/>
                </a:solidFill>
              </a:rPr>
              <a:t>Button color / copy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413094" y="2393115"/>
            <a:ext cx="1377363" cy="637467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458814" y="2434263"/>
            <a:ext cx="1285923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Required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790457" y="2393115"/>
            <a:ext cx="1836484" cy="637467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36177" y="2434263"/>
            <a:ext cx="1745044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Optional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626941" y="2393115"/>
            <a:ext cx="1836484" cy="637467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72661" y="2434263"/>
            <a:ext cx="1745044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No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8463425" y="2393115"/>
            <a:ext cx="3122023" cy="637467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509145" y="2434263"/>
            <a:ext cx="3030583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UI proof sufficient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58368" y="3030583"/>
            <a:ext cx="2754726" cy="637467"/>
          </a:xfrm>
          <a:prstGeom prst="rect">
            <a:avLst/>
          </a:prstGeom>
          <a:solidFill>
            <a:srgbClr val="EEF0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04088" y="3071731"/>
            <a:ext cx="2663286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5FEF"/>
                </a:solidFill>
              </a:rPr>
              <a:t>Pricing formula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413094" y="3030583"/>
            <a:ext cx="1377363" cy="637467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458814" y="3071731"/>
            <a:ext cx="1285923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Required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790457" y="3030583"/>
            <a:ext cx="1836484" cy="637467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836177" y="3071731"/>
            <a:ext cx="1745044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Maybe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626941" y="3030583"/>
            <a:ext cx="1836484" cy="637467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672661" y="3071731"/>
            <a:ext cx="1745044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No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8463425" y="3030583"/>
            <a:ext cx="3122023" cy="637467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509145" y="3071731"/>
            <a:ext cx="3030583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tests + API + browser often sufficient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658368" y="3668050"/>
            <a:ext cx="2754726" cy="637467"/>
          </a:xfrm>
          <a:prstGeom prst="rect">
            <a:avLst/>
          </a:prstGeom>
          <a:solidFill>
            <a:srgbClr val="EEF0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04088" y="3709198"/>
            <a:ext cx="2663286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5FEF"/>
                </a:solidFill>
              </a:rPr>
              <a:t>New Expo JS feature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3413094" y="3668050"/>
            <a:ext cx="1377363" cy="637467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458814" y="3709198"/>
            <a:ext cx="1285923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Required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790457" y="3668050"/>
            <a:ext cx="1836484" cy="637467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836177" y="3709198"/>
            <a:ext cx="1745044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QR recommended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6626941" y="3668050"/>
            <a:ext cx="1836484" cy="637467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672661" y="3709198"/>
            <a:ext cx="1745044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No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8463425" y="3668050"/>
            <a:ext cx="3122023" cy="637467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509145" y="3709198"/>
            <a:ext cx="3030583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real phone cheap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658368" y="4305518"/>
            <a:ext cx="2754726" cy="637467"/>
          </a:xfrm>
          <a:prstGeom prst="rect">
            <a:avLst/>
          </a:prstGeom>
          <a:solidFill>
            <a:srgbClr val="EEF0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04088" y="4346666"/>
            <a:ext cx="2663286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5FEF"/>
                </a:solidFill>
              </a:rPr>
              <a:t>Bluetooth / NFC / background task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3413094" y="4305518"/>
            <a:ext cx="1377363" cy="637467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458814" y="4346666"/>
            <a:ext cx="1285923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UI only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4790457" y="4305518"/>
            <a:ext cx="1836484" cy="637467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836177" y="4346666"/>
            <a:ext cx="1745044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Required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6626941" y="4305518"/>
            <a:ext cx="1836484" cy="637467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672661" y="4346666"/>
            <a:ext cx="1745044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Optional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8463425" y="4305518"/>
            <a:ext cx="3122023" cy="637467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8509145" y="4346666"/>
            <a:ext cx="3030583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hardware/native behavior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658368" y="4942985"/>
            <a:ext cx="2754726" cy="637467"/>
          </a:xfrm>
          <a:prstGeom prst="rect">
            <a:avLst/>
          </a:prstGeom>
          <a:solidFill>
            <a:srgbClr val="EEF0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04088" y="4984133"/>
            <a:ext cx="2663286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5FEF"/>
                </a:solidFill>
              </a:rPr>
              <a:t>Android 16-only crash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3413094" y="4942985"/>
            <a:ext cx="1377363" cy="637467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458814" y="4984133"/>
            <a:ext cx="1285923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UI only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4790457" y="4942985"/>
            <a:ext cx="1836484" cy="637467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836177" y="4984133"/>
            <a:ext cx="1745044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Recommended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6626941" y="4942985"/>
            <a:ext cx="1836484" cy="637467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6672661" y="4984133"/>
            <a:ext cx="1745044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Likely Android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8463425" y="4942985"/>
            <a:ext cx="3122023" cy="637467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8509145" y="4984133"/>
            <a:ext cx="3030583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OS-specific reproduction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658368" y="5580453"/>
            <a:ext cx="2754726" cy="637467"/>
          </a:xfrm>
          <a:prstGeom prst="rect">
            <a:avLst/>
          </a:prstGeom>
          <a:solidFill>
            <a:srgbClr val="EEF0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704088" y="5621601"/>
            <a:ext cx="2663286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5FEF"/>
                </a:solidFill>
              </a:rPr>
              <a:t>Apple Pay callback bug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3413094" y="5580453"/>
            <a:ext cx="1377363" cy="637467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3458814" y="5621601"/>
            <a:ext cx="1285923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UI only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4790457" y="5580453"/>
            <a:ext cx="1836484" cy="637467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4836177" y="5621601"/>
            <a:ext cx="1745044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Required iPhone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6626941" y="5580453"/>
            <a:ext cx="1836484" cy="637467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6672661" y="5621601"/>
            <a:ext cx="1745044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iOS Simulator maybe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8463425" y="5580453"/>
            <a:ext cx="3122023" cy="637467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8509145" y="5621601"/>
            <a:ext cx="3030583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Apple API/runtime behavior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37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DATABASE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 is the OmniStackAI control-plane core — specialized stores remain optional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One operationally strong default reduces platform complexity and cost.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42900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62272" y="1755648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PostgreSQL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80560" y="2084832"/>
            <a:ext cx="3246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tenancy • projects • tasks • approvals • deployments • billing • audit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99048" y="2542032"/>
            <a:ext cx="-3858768" cy="713232"/>
          </a:xfrm>
          <a:prstGeom prst="line">
            <a:avLst/>
          </a:prstGeom>
          <a:noFill/>
          <a:ln w="13970">
            <a:solidFill>
              <a:srgbClr val="566A8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99048" y="2542032"/>
            <a:ext cx="-1298448" cy="713232"/>
          </a:xfrm>
          <a:prstGeom prst="line">
            <a:avLst/>
          </a:prstGeom>
          <a:noFill/>
          <a:ln w="13970">
            <a:solidFill>
              <a:srgbClr val="566A8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099048" y="2542032"/>
            <a:ext cx="1261872" cy="713232"/>
          </a:xfrm>
          <a:prstGeom prst="line">
            <a:avLst/>
          </a:prstGeom>
          <a:noFill/>
          <a:ln w="13970">
            <a:solidFill>
              <a:srgbClr val="566A8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99048" y="2542032"/>
            <a:ext cx="3822192" cy="713232"/>
          </a:xfrm>
          <a:prstGeom prst="line">
            <a:avLst/>
          </a:prstGeom>
          <a:noFill/>
          <a:ln w="13970">
            <a:solidFill>
              <a:srgbClr val="566A8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234440" y="3337560"/>
            <a:ext cx="1965960" cy="822960"/>
          </a:xfrm>
          <a:prstGeom prst="roundRect">
            <a:avLst>
              <a:gd name="adj" fmla="val 7778"/>
            </a:avLst>
          </a:prstGeom>
          <a:solidFill>
            <a:srgbClr val="151F38"/>
          </a:solidFill>
          <a:ln w="1778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07592" y="3447288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pgvector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325880" y="377647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semantic locator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94760" y="3337560"/>
            <a:ext cx="1965960" cy="822960"/>
          </a:xfrm>
          <a:prstGeom prst="roundRect">
            <a:avLst>
              <a:gd name="adj" fmla="val 7778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867912" y="3447288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JSONB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86200" y="377647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flexible payloads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55080" y="3337560"/>
            <a:ext cx="1965960" cy="822960"/>
          </a:xfrm>
          <a:prstGeom prst="roundRect">
            <a:avLst>
              <a:gd name="adj" fmla="val 7778"/>
            </a:avLst>
          </a:prstGeom>
          <a:solidFill>
            <a:srgbClr val="151F38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28232" y="3447288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Redis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46520" y="377647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cache / ephemeral state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915400" y="3337560"/>
            <a:ext cx="1965960" cy="822960"/>
          </a:xfrm>
          <a:prstGeom prst="roundRect">
            <a:avLst>
              <a:gd name="adj" fmla="val 7778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988552" y="3447288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NATS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06840" y="377647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async events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60520" y="4800600"/>
            <a:ext cx="388620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233672" y="4910328"/>
            <a:ext cx="3739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Object Storage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251960" y="5239512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large logs • screenshots • artifacts • snapshots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88720" y="589788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7C2F2"/>
                </a:solidFill>
              </a:rPr>
              <a:t>Later, add ClickHouse / dedicated vector / other stores only after metrics prove the need.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38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POSTGRES VS MONGO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 vs MongoDB: choose by workload; PostgreSQL is the safer default for broad commercial apps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2072640" cy="620486"/>
          </a:xfrm>
          <a:prstGeom prst="rect">
            <a:avLst/>
          </a:prstGeom>
          <a:solidFill>
            <a:srgbClr val="E9EDFF"/>
          </a:solidFill>
          <a:ln w="6350">
            <a:solidFill>
              <a:srgbClr val="D4DC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22376" y="1783080"/>
            <a:ext cx="1999488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Area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58440" y="1737360"/>
            <a:ext cx="2677160" cy="620486"/>
          </a:xfrm>
          <a:prstGeom prst="rect">
            <a:avLst/>
          </a:prstGeom>
          <a:solidFill>
            <a:srgbClr val="E9EDFF"/>
          </a:solidFill>
          <a:ln w="6350">
            <a:solidFill>
              <a:srgbClr val="D4DC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95016" y="1783080"/>
            <a:ext cx="2604008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PostgreSQL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35600" y="1737360"/>
            <a:ext cx="2677160" cy="620486"/>
          </a:xfrm>
          <a:prstGeom prst="rect">
            <a:avLst/>
          </a:prstGeom>
          <a:solidFill>
            <a:srgbClr val="E9EDFF"/>
          </a:solidFill>
          <a:ln w="6350">
            <a:solidFill>
              <a:srgbClr val="D4DC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72176" y="1783080"/>
            <a:ext cx="2604008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MongoDB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112760" y="1737360"/>
            <a:ext cx="3454400" cy="620486"/>
          </a:xfrm>
          <a:prstGeom prst="rect">
            <a:avLst/>
          </a:prstGeom>
          <a:solidFill>
            <a:srgbClr val="E9EDFF"/>
          </a:solidFill>
          <a:ln w="6350">
            <a:solidFill>
              <a:srgbClr val="D4DC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49336" y="1783080"/>
            <a:ext cx="3381248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OmniStackAI decision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2357846"/>
            <a:ext cx="2072640" cy="620486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2398994"/>
            <a:ext cx="198120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Relationships / joins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758440" y="2357846"/>
            <a:ext cx="2677160" cy="620486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804160" y="2398994"/>
            <a:ext cx="258572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Excellent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435600" y="2357846"/>
            <a:ext cx="2677160" cy="620486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1320" y="2398994"/>
            <a:ext cx="258572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Application-driven / document-oriented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112760" y="2357846"/>
            <a:ext cx="3454400" cy="620486"/>
          </a:xfrm>
          <a:prstGeom prst="rect">
            <a:avLst/>
          </a:prstGeom>
          <a:solidFill>
            <a:srgbClr val="EEF0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58480" y="2398994"/>
            <a:ext cx="336296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5FEF"/>
                </a:solidFill>
              </a:rPr>
              <a:t>Postgres for e-commerce, SaaS, ERP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85800" y="2978331"/>
            <a:ext cx="2072640" cy="620486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3019479"/>
            <a:ext cx="198120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Transactions / constraints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2758440" y="2978331"/>
            <a:ext cx="2677160" cy="620486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804160" y="3019479"/>
            <a:ext cx="258572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Strong default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5435600" y="2978331"/>
            <a:ext cx="2677160" cy="620486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481320" y="3019479"/>
            <a:ext cx="258572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Supported, but document model differs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8112760" y="2978331"/>
            <a:ext cx="3454400" cy="620486"/>
          </a:xfrm>
          <a:prstGeom prst="rect">
            <a:avLst/>
          </a:prstGeom>
          <a:solidFill>
            <a:srgbClr val="EEF0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158480" y="3019479"/>
            <a:ext cx="336296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5FEF"/>
                </a:solidFill>
              </a:rPr>
              <a:t>Postgres for money/inventory/order consistency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85800" y="3598817"/>
            <a:ext cx="2072640" cy="620486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31520" y="3639965"/>
            <a:ext cx="198120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Flexible schema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2758440" y="3598817"/>
            <a:ext cx="2677160" cy="620486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804160" y="3639965"/>
            <a:ext cx="258572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JSONB + relational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5435600" y="3598817"/>
            <a:ext cx="2677160" cy="620486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481320" y="3639965"/>
            <a:ext cx="258572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Excellent document flexibility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8112760" y="3598817"/>
            <a:ext cx="3454400" cy="620486"/>
          </a:xfrm>
          <a:prstGeom prst="rect">
            <a:avLst/>
          </a:prstGeom>
          <a:solidFill>
            <a:srgbClr val="EEF0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158480" y="3639965"/>
            <a:ext cx="336296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5FEF"/>
                </a:solidFill>
              </a:rPr>
              <a:t>Mongo optional when document workload dominates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685800" y="4219303"/>
            <a:ext cx="2072640" cy="620486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31520" y="4260451"/>
            <a:ext cx="198120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Vector / AI context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2758440" y="4219303"/>
            <a:ext cx="2677160" cy="620486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804160" y="4260451"/>
            <a:ext cx="258572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pgvector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5435600" y="4219303"/>
            <a:ext cx="2677160" cy="620486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481320" y="4260451"/>
            <a:ext cx="258572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Atlas vector options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8112760" y="4219303"/>
            <a:ext cx="3454400" cy="620486"/>
          </a:xfrm>
          <a:prstGeom prst="rect">
            <a:avLst/>
          </a:prstGeom>
          <a:solidFill>
            <a:srgbClr val="EEF0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158480" y="4260451"/>
            <a:ext cx="336296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5FEF"/>
                </a:solidFill>
              </a:rPr>
              <a:t>pgvector first to reduce infra count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685800" y="4839789"/>
            <a:ext cx="2072640" cy="620486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31520" y="4880937"/>
            <a:ext cx="198120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Geospatial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2758440" y="4839789"/>
            <a:ext cx="2677160" cy="620486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804160" y="4880937"/>
            <a:ext cx="258572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PostGIS ecosystem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5435600" y="4839789"/>
            <a:ext cx="2677160" cy="620486"/>
          </a:xfrm>
          <a:prstGeom prst="rect">
            <a:avLst/>
          </a:prstGeom>
          <a:solidFill>
            <a:srgbClr val="FFFF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481320" y="4880937"/>
            <a:ext cx="258572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Geo features available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8112760" y="4839789"/>
            <a:ext cx="3454400" cy="620486"/>
          </a:xfrm>
          <a:prstGeom prst="rect">
            <a:avLst/>
          </a:prstGeom>
          <a:solidFill>
            <a:srgbClr val="EEF0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158480" y="4880937"/>
            <a:ext cx="336296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5FEF"/>
                </a:solidFill>
              </a:rPr>
              <a:t>PostGIS strong for mobility/logistics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685800" y="5460274"/>
            <a:ext cx="2072640" cy="620486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31520" y="5501422"/>
            <a:ext cx="198120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Prototype speed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2758440" y="5460274"/>
            <a:ext cx="2677160" cy="620486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2804160" y="5501422"/>
            <a:ext cx="258572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Very good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5435600" y="5460274"/>
            <a:ext cx="2677160" cy="620486"/>
          </a:xfrm>
          <a:prstGeom prst="rect">
            <a:avLst/>
          </a:prstGeom>
          <a:solidFill>
            <a:srgbClr val="F6F8FC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481320" y="5501422"/>
            <a:ext cx="258572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Excellent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8112760" y="5460274"/>
            <a:ext cx="3454400" cy="620486"/>
          </a:xfrm>
          <a:prstGeom prst="rect">
            <a:avLst/>
          </a:prstGeom>
          <a:solidFill>
            <a:srgbClr val="EEF0FF"/>
          </a:solidFill>
          <a:ln w="5715">
            <a:solidFill>
              <a:srgbClr val="DFE6F1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158480" y="5501422"/>
            <a:ext cx="3362960" cy="54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5FEF"/>
                </a:solidFill>
              </a:rPr>
              <a:t>Database recommender may pick either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530352" y="614476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8B99AC"/>
                </a:solidFill>
              </a:rPr>
              <a:t>Emergent publicly documents MongoDB as a common/default generated-app database; OmniStackAI intentionally uses workload-based recommendations.</a:t>
            </a:r>
            <a:endParaRPr lang="en-US" sz="660" dirty="0"/>
          </a:p>
        </p:txBody>
      </p:sp>
      <p:sp>
        <p:nvSpPr>
          <p:cNvPr id="66" name="Shape 64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 STACK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39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STACK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Generated application stack: optimize each target independently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Do not force one framework across mobile, public web and admin just to claim 100% code sharing.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1828800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1792" y="1856232"/>
            <a:ext cx="64008" cy="2962656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5528" y="197510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Public Web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2377440"/>
            <a:ext cx="23957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React + Next.js + TypeScript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App Router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SSR/RSC where useful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SEO + accessibility + Core Web Vitals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47872" y="1828800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575304" y="1856232"/>
            <a:ext cx="64008" cy="296265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49040" y="197510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377440"/>
            <a:ext cx="23957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Next.js + TypeScript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RBAC / ABAC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server-side pagination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0D8"/>
                </a:solidFill>
              </a:rPr>
              <a:t>audit + destructive approvals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1828800"/>
            <a:ext cx="2331720" cy="3017520"/>
          </a:xfrm>
          <a:prstGeom prst="roundRect">
            <a:avLst>
              <a:gd name="adj" fmla="val 313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519672" y="1856232"/>
            <a:ext cx="64008" cy="2962656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93408" y="1975104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93408" y="2377440"/>
            <a:ext cx="19842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B5C0D8"/>
                </a:solidFill>
              </a:rPr>
              <a:t>Go default for services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B5C0D8"/>
                </a:solidFill>
              </a:rPr>
              <a:t>Python where AI/data ecosystem benefits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B5C0D8"/>
                </a:solidFill>
              </a:rPr>
              <a:t>Node/Nest optional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9034272" y="18288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61704" y="1856232"/>
            <a:ext cx="64008" cy="296265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235440" y="197510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Shared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35440" y="2377440"/>
            <a:ext cx="21671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B5C0D8"/>
                </a:solidFill>
              </a:rPr>
              <a:t>OpenAPI / AsyncAPI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B5C0D8"/>
                </a:solidFill>
              </a:rPr>
              <a:t>validation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B5C0D8"/>
                </a:solidFill>
              </a:rPr>
              <a:t>design tokens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B5C0D8"/>
                </a:solidFill>
              </a:rPr>
              <a:t>generated clients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B5C0D8"/>
                </a:solidFill>
              </a:rPr>
              <a:t>accepted product rules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1005840" y="54864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Share specifications and contracts first. Share runtime code only when compatibility is real.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DELIVERY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40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DEPLOYMENT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Web/backend releases are immutable runs with guarded promotion and fast rollback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607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Source SHA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commit + IR hash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03120" y="2487168"/>
            <a:ext cx="164592" cy="0"/>
          </a:xfrm>
          <a:prstGeom prst="line">
            <a:avLst/>
          </a:prstGeom>
          <a:noFill/>
          <a:ln w="13970">
            <a:solidFill>
              <a:srgbClr val="A6B2C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359152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432304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Build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50592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reproducible image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59352" y="2487168"/>
            <a:ext cx="164592" cy="0"/>
          </a:xfrm>
          <a:prstGeom prst="line">
            <a:avLst/>
          </a:prstGeom>
          <a:noFill/>
          <a:ln w="13970">
            <a:solidFill>
              <a:srgbClr val="A6B2C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215384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778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288536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Test + Scan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06824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quality + security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15584" y="2487168"/>
            <a:ext cx="164592" cy="0"/>
          </a:xfrm>
          <a:prstGeom prst="line">
            <a:avLst/>
          </a:prstGeom>
          <a:noFill/>
          <a:ln w="13970">
            <a:solidFill>
              <a:srgbClr val="A6B2C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071616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144768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New Environment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63056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parallel version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671816" y="2487168"/>
            <a:ext cx="164592" cy="0"/>
          </a:xfrm>
          <a:prstGeom prst="line">
            <a:avLst/>
          </a:prstGeom>
          <a:noFill/>
          <a:ln w="13970">
            <a:solidFill>
              <a:srgbClr val="A6B2C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927848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778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01000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Health / Readiness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19288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prove before traffic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28048" y="2487168"/>
            <a:ext cx="164592" cy="0"/>
          </a:xfrm>
          <a:prstGeom prst="line">
            <a:avLst/>
          </a:prstGeom>
          <a:noFill/>
          <a:ln w="13970">
            <a:solidFill>
              <a:srgbClr val="A6B2C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78408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85723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Atomic Switch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87552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production pointer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74520" y="3886200"/>
            <a:ext cx="25603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947672" y="399592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Previous production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965960" y="43251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kept known-good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26280" y="4279392"/>
            <a:ext cx="2788920" cy="0"/>
          </a:xfrm>
          <a:prstGeom prst="line">
            <a:avLst/>
          </a:prstGeom>
          <a:noFill/>
          <a:ln w="21590">
            <a:solidFill>
              <a:srgbClr val="EF4444"/>
            </a:solidFill>
            <a:prstDash val="dash"/>
            <a:headEnd type="none"/>
            <a:tailEnd type="triangl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406640" y="3886200"/>
            <a:ext cx="25603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778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479792" y="399592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Rollback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498080" y="43251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pointer flip / new run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08960" y="5166360"/>
            <a:ext cx="5989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136392" y="5193792"/>
            <a:ext cx="64008" cy="603504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310128" y="5312664"/>
            <a:ext cx="5641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Workflow guarantee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310128" y="5715000"/>
            <a:ext cx="5641848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Deployment retries never mutate a partially failed run into “success.”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DELIVERY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41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ANDROID RELEASE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Android release pipeline: signed artifacts, staged store promotion, full provenance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Testing APK and Play Store AAB are separate artifact classes.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463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Commit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approved SHA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11680" y="2487168"/>
            <a:ext cx="182880" cy="0"/>
          </a:xfrm>
          <a:prstGeom prst="line">
            <a:avLst/>
          </a:prstGeom>
          <a:noFill/>
          <a:ln w="13970">
            <a:solidFill>
              <a:srgbClr val="68799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33172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0487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Gradle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2316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build + tests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31920" y="2487168"/>
            <a:ext cx="182880" cy="0"/>
          </a:xfrm>
          <a:prstGeom prst="line">
            <a:avLst/>
          </a:prstGeom>
          <a:noFill/>
          <a:ln w="13970">
            <a:solidFill>
              <a:srgbClr val="68799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25196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32511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Security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4340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SAST/deps/SBOM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52160" y="2487168"/>
            <a:ext cx="182880" cy="0"/>
          </a:xfrm>
          <a:prstGeom prst="line">
            <a:avLst/>
          </a:prstGeom>
          <a:noFill/>
          <a:ln w="13970">
            <a:solidFill>
              <a:srgbClr val="68799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17220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4535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Signing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6364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isolated key service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72400" y="2487168"/>
            <a:ext cx="182880" cy="0"/>
          </a:xfrm>
          <a:prstGeom prst="line">
            <a:avLst/>
          </a:prstGeom>
          <a:noFill/>
          <a:ln w="13970">
            <a:solidFill>
              <a:srgbClr val="68799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9244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16559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AAB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8388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immutable artifact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692640" y="2487168"/>
            <a:ext cx="182880" cy="0"/>
          </a:xfrm>
          <a:prstGeom prst="line">
            <a:avLst/>
          </a:prstGeom>
          <a:noFill/>
          <a:ln w="13970">
            <a:solidFill>
              <a:srgbClr val="68799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01268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151F38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08583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Play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10412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ABCA"/>
                </a:solidFill>
              </a:rPr>
              <a:t>internal → closed → prod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22960" y="397764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50392" y="4005072"/>
            <a:ext cx="64008" cy="1243584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24128" y="412394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 artifact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24128" y="4526280"/>
            <a:ext cx="28986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B5C0D8"/>
                </a:solidFill>
              </a:rPr>
              <a:t>APK • short-lived secure QR • development signing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4462272" y="397764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489704" y="4005072"/>
            <a:ext cx="64008" cy="1243584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663440" y="412394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Release artifact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63440" y="4526280"/>
            <a:ext cx="28986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B5C0D8"/>
                </a:solidFill>
              </a:rPr>
              <a:t>AAB • immutable • digest + SBOM + signer version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8101584" y="397764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129016" y="4005072"/>
            <a:ext cx="64008" cy="124358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302752" y="412394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Human control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302752" y="4526280"/>
            <a:ext cx="28986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B5C0D8"/>
                </a:solidFill>
              </a:rPr>
              <a:t>production promotion is an external side effect → explicit approval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DELIVERY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42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IOS RELEASE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iOS release pipeline: macOS build boundary + isolated signing + TestFlight/App Store promotion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778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463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Commit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approved SHA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0" y="2487168"/>
            <a:ext cx="182880" cy="0"/>
          </a:xfrm>
          <a:prstGeom prst="line">
            <a:avLst/>
          </a:prstGeom>
          <a:noFill/>
          <a:ln w="13970">
            <a:solidFill>
              <a:srgbClr val="A4B0C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33172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778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40487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macOS / Xcode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2316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build + tests + archive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31920" y="2487168"/>
            <a:ext cx="182880" cy="0"/>
          </a:xfrm>
          <a:prstGeom prst="line">
            <a:avLst/>
          </a:prstGeom>
          <a:noFill/>
          <a:ln w="13970">
            <a:solidFill>
              <a:srgbClr val="A4B0C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25196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778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2511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Security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4340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scan + provenance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52160" y="2487168"/>
            <a:ext cx="182880" cy="0"/>
          </a:xfrm>
          <a:prstGeom prst="line">
            <a:avLst/>
          </a:prstGeom>
          <a:noFill/>
          <a:ln w="13970">
            <a:solidFill>
              <a:srgbClr val="A4B0C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17220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4535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Signing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64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KMS/HSM/brokered credentials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72400" y="2487168"/>
            <a:ext cx="182880" cy="0"/>
          </a:xfrm>
          <a:prstGeom prst="line">
            <a:avLst/>
          </a:prstGeom>
          <a:noFill/>
          <a:ln w="13970">
            <a:solidFill>
              <a:srgbClr val="A4B0C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9244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778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16559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TestFlight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8388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real-device validation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692640" y="2487168"/>
            <a:ext cx="182880" cy="0"/>
          </a:xfrm>
          <a:prstGeom prst="line">
            <a:avLst/>
          </a:prstGeom>
          <a:noFill/>
          <a:ln w="13970">
            <a:solidFill>
              <a:srgbClr val="A4B0C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012680" y="205740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085832" y="21671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App Store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104120" y="249631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review → release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68680" y="397764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96112" y="4005072"/>
            <a:ext cx="64008" cy="12435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69848" y="4123944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Keys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69848" y="4526280"/>
            <a:ext cx="28072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Raw private signing keys never enter prompts or normal coding sandboxes.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4526280" y="397764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553712" y="4005072"/>
            <a:ext cx="64008" cy="124358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727448" y="4123944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Cost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27448" y="4526280"/>
            <a:ext cx="28072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macOS allocated only for real Apple tooling; Local Mac can offload cloud spend.</a:t>
            </a:r>
            <a:endParaRPr lang="en-US" sz="1070" dirty="0"/>
          </a:p>
        </p:txBody>
      </p:sp>
      <p:sp>
        <p:nvSpPr>
          <p:cNvPr id="40" name="Shape 38"/>
          <p:cNvSpPr/>
          <p:nvPr/>
        </p:nvSpPr>
        <p:spPr>
          <a:xfrm>
            <a:off x="8183880" y="397764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211312" y="4005072"/>
            <a:ext cx="64008" cy="1243584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385048" y="4123944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Traceability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385048" y="4526280"/>
            <a:ext cx="28072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archive → signer → TestFlight build → store release tied to source and IR.</a:t>
            </a:r>
            <a:endParaRPr lang="en-US" sz="1070" dirty="0"/>
          </a:p>
        </p:txBody>
      </p:sp>
      <p:sp>
        <p:nvSpPr>
          <p:cNvPr id="44" name="Shape 42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OWNERSHIP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HANDOVER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handover is a first-class product feature — not an export afterthought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A customer can leave OmniStackAI and still own a normal, maintainable software product.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18288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1792" y="1856232"/>
            <a:ext cx="64008" cy="99669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5528" y="1975104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Source repo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2862072" y="18288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889504" y="1856232"/>
            <a:ext cx="64008" cy="996696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063240" y="1975104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Application IR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129784" y="18288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157216" y="1856232"/>
            <a:ext cx="64008" cy="9966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0952" y="1975104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ADRs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397496" y="18288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424928" y="1856232"/>
            <a:ext cx="64008" cy="996696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598664" y="1975104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API contracts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9665208" y="18288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692640" y="1856232"/>
            <a:ext cx="64008" cy="99669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866376" y="1975104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DB schema/migrations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594360" y="3218688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21792" y="3246120"/>
            <a:ext cx="64008" cy="9966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95528" y="336499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Setup + CI/CD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2862072" y="3218688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889504" y="3246120"/>
            <a:ext cx="64008" cy="99669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063240" y="336499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SBOM/provenance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5129784" y="3218688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157216" y="3246120"/>
            <a:ext cx="64008" cy="9966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30952" y="336499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Signing ownership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7397496" y="3218688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424928" y="3246120"/>
            <a:ext cx="64008" cy="9966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598664" y="336499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Release history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9665208" y="3218688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692640" y="3246120"/>
            <a:ext cx="64008" cy="996696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866376" y="336499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Runbooks</a:t>
            </a:r>
            <a:endParaRPr lang="en-US" sz="1070" dirty="0"/>
          </a:p>
        </p:txBody>
      </p:sp>
      <p:sp>
        <p:nvSpPr>
          <p:cNvPr id="40" name="Text 38"/>
          <p:cNvSpPr/>
          <p:nvPr/>
        </p:nvSpPr>
        <p:spPr>
          <a:xfrm>
            <a:off x="1143000" y="512064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9F43"/>
                </a:solidFill>
              </a:rPr>
              <a:t>Secrets are transferred as ownership/process references — never dumped into handover files.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206240" y="5650992"/>
            <a:ext cx="3794760" cy="457200"/>
          </a:xfrm>
          <a:prstGeom prst="roundRect">
            <a:avLst>
              <a:gd name="adj" fmla="val 16000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261104" y="570585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NO VENDOR-LOCKED SOURCE FORMAT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OPERATIONS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44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OBSERVABILITY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 tracks engineering quality + unit economics together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94360" y="1755648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DE5F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186537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5FEF"/>
                </a:solidFill>
              </a:rPr>
              <a:t>QUALITY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359152"/>
            <a:ext cx="1737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Build success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first attempt + final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862072" y="1755648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DE5F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999232" y="186537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QUALITY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99232" y="2359152"/>
            <a:ext cx="1737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Regression escape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accepted changes that later break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129784" y="1755648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DE5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66944" y="186537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QUALITY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737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Deployment success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no manual repair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397496" y="1755648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DE5F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34656" y="186537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F43"/>
                </a:solidFill>
              </a:rPr>
              <a:t>QUALITY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34656" y="2359152"/>
            <a:ext cx="1737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Blast-radius escape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unexpected modules changed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665208" y="1755648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DE5F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802368" y="186537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COST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02368" y="2359152"/>
            <a:ext cx="1737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Model cost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per successful task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94360" y="329184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DE5F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31520" y="34015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C7A3"/>
                </a:solidFill>
              </a:rPr>
              <a:t>COST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" y="3895344"/>
            <a:ext cx="1737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Linux minutes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per successful task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862072" y="329184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DE5F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999232" y="34015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</a:rPr>
              <a:t>COST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999232" y="3895344"/>
            <a:ext cx="1737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Mac minutes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per successful iOS task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129784" y="329184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DE5F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266944" y="34015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C2F2"/>
                </a:solidFill>
              </a:rPr>
              <a:t>COST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266944" y="3895344"/>
            <a:ext cx="1737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Preview → build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browser-to-real-device ratio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397496" y="329184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DE5F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534656" y="34015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COST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534656" y="3895344"/>
            <a:ext cx="1737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Cache hit rate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dependencies + builds + index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9665208" y="329184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DE5F1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802368" y="34015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CC15"/>
                </a:solidFill>
              </a:rPr>
              <a:t>COST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802368" y="3895344"/>
            <a:ext cx="1737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Incident rate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by framework/version/template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1280160" y="523036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5FEF"/>
                </a:solidFill>
              </a:rPr>
              <a:t>North-star: verified task success with declining cost and regression rate.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ECONOMICS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45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UNIT ECONOMICS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economics are designed into the architecture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Each lever attacks a different cost driver.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1783080"/>
            <a:ext cx="3429000" cy="1033272"/>
          </a:xfrm>
          <a:prstGeom prst="roundRect">
            <a:avLst>
              <a:gd name="adj" fmla="val 7080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85800" y="1810512"/>
            <a:ext cx="64008" cy="978408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9536" y="1929384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LLM input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9536" y="2331720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Context Pack + deterministic retrieval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425696" y="1783080"/>
            <a:ext cx="3429000" cy="1033272"/>
          </a:xfrm>
          <a:prstGeom prst="roundRect">
            <a:avLst>
              <a:gd name="adj" fmla="val 7080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53128" y="1810512"/>
            <a:ext cx="64008" cy="9784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26864" y="1929384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LLM output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26864" y="2331720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structured patches + concise tool plans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8193024" y="1783080"/>
            <a:ext cx="3429000" cy="1033272"/>
          </a:xfrm>
          <a:prstGeom prst="roundRect">
            <a:avLst>
              <a:gd name="adj" fmla="val 7080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0456" y="1810512"/>
            <a:ext cx="64008" cy="9784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94192" y="1929384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Indexing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94192" y="2331720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incremental content-hash reindex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58368" y="3090672"/>
            <a:ext cx="3429000" cy="1033272"/>
          </a:xfrm>
          <a:prstGeom prst="roundRect">
            <a:avLst>
              <a:gd name="adj" fmla="val 7080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85800" y="3118104"/>
            <a:ext cx="64008" cy="978408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59536" y="3236976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Linux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9536" y="363931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browser runtime + fast teardown + caches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4425696" y="3090672"/>
            <a:ext cx="3429000" cy="1033272"/>
          </a:xfrm>
          <a:prstGeom prst="roundRect">
            <a:avLst>
              <a:gd name="adj" fmla="val 7080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453128" y="3118104"/>
            <a:ext cx="64008" cy="9784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26864" y="3236976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Android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626864" y="363931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native fingerprint + Gradle cache + QR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193024" y="3090672"/>
            <a:ext cx="3429000" cy="1033272"/>
          </a:xfrm>
          <a:prstGeom prst="roundRect">
            <a:avLst>
              <a:gd name="adj" fmla="val 7080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220456" y="3118104"/>
            <a:ext cx="64008" cy="9784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394192" y="3236976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macOS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94192" y="363931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only Apple work + local agent option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58368" y="4398264"/>
            <a:ext cx="3429000" cy="1033272"/>
          </a:xfrm>
          <a:prstGeom prst="roundRect">
            <a:avLst>
              <a:gd name="adj" fmla="val 7080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85800" y="4425696"/>
            <a:ext cx="64008" cy="978408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59536" y="4544568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Cloud devices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59536" y="4946904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physical device before cloud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4425696" y="4398264"/>
            <a:ext cx="3429000" cy="1033272"/>
          </a:xfrm>
          <a:prstGeom prst="roundRect">
            <a:avLst>
              <a:gd name="adj" fmla="val 7080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453128" y="4425696"/>
            <a:ext cx="64008" cy="9784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626864" y="4544568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Storage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626864" y="4946904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expiry + dedupe + content addressing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8193024" y="4398264"/>
            <a:ext cx="3429000" cy="1033272"/>
          </a:xfrm>
          <a:prstGeom prst="roundRect">
            <a:avLst>
              <a:gd name="adj" fmla="val 7080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8220456" y="4425696"/>
            <a:ext cx="64008" cy="9784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394192" y="4544568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Retries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394192" y="4946904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5C0D8"/>
                </a:solidFill>
              </a:rPr>
              <a:t>Temporal resume + idempotency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914400" y="589788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Measure the total cost of an accepted, verified task — not the cost of a single model call.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46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PLANS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can align user value with the actual expensive resources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Credits should expose expensive choices without charging repeatedly for platform-caused retries.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182880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57784" y="1856232"/>
            <a:ext cx="64008" cy="2276856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19751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Free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prototype + browser preview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limited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2834640" y="182880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862072" y="1856232"/>
            <a:ext cx="64008" cy="227685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035808" y="19751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Developer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35808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individual projects + builds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standard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5138928" y="182880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166360" y="1856232"/>
            <a:ext cx="64008" cy="2276856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340096" y="19751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0096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more projects + mobile + native builds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higher limits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443216" y="182880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70648" y="1856232"/>
            <a:ext cx="64008" cy="227685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44384" y="19751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Agency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44384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client workspaces + collaboration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many projects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9747504" y="182880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774936" y="1856232"/>
            <a:ext cx="64008" cy="22768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948672" y="19751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Enterprise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948672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SSO • BYOC • residency • SLA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custom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530352" y="470916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85216" y="4764024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METERED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901952" y="465429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975104" y="476402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LLM overage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860597" y="465429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933749" y="476402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Linux minutes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819242" y="465429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892394" y="476402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Mac minutes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777886" y="465429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851038" y="476402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cloud devices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736531" y="4654296"/>
            <a:ext cx="1812341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778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809683" y="4764024"/>
            <a:ext cx="1666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storage/bandwidth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14400" y="580644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5B5FEF"/>
                </a:solidFill>
              </a:rPr>
              <a:t>BYOK reduces model markup; Local Mac / BYOC can shift compute to the customer without weakening policy/audit.</a:t>
            </a:r>
            <a:endParaRPr lang="en-US" sz="1280" dirty="0"/>
          </a:p>
        </p:txBody>
      </p:sp>
      <p:sp>
        <p:nvSpPr>
          <p:cNvPr id="43" name="Shape 41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COMPETITION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47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MATRIX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architecture snapshot — public documentation, September 2026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OmniStackAI target column is product intent, not a claim of current shipped capability.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1847088"/>
            <a:ext cx="1828800" cy="520065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" y="1892808"/>
            <a:ext cx="1755648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Capability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67712" y="1847088"/>
            <a:ext cx="1645920" cy="520065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304288" y="1892808"/>
            <a:ext cx="1572768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Emergent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13632" y="1847088"/>
            <a:ext cx="1645920" cy="520065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950208" y="1892808"/>
            <a:ext cx="1572768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Lovable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59552" y="1847088"/>
            <a:ext cx="1508760" cy="520065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596128" y="1892808"/>
            <a:ext cx="1435608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Bolt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068312" y="1847088"/>
            <a:ext cx="1508760" cy="520065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04888" y="1892808"/>
            <a:ext cx="1435608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Replit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577072" y="1847088"/>
            <a:ext cx="3163824" cy="520065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13648" y="1892808"/>
            <a:ext cx="3090672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OmniStackAI target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8912" y="2367153"/>
            <a:ext cx="182880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4632" y="2408301"/>
            <a:ext cx="173736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Natural language full product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267712" y="2367153"/>
            <a:ext cx="164592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313432" y="2408301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Yes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913632" y="2367153"/>
            <a:ext cx="164592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959352" y="2408301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Yes / web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559552" y="2367153"/>
            <a:ext cx="150876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05272" y="2408301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Yes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7068312" y="2367153"/>
            <a:ext cx="150876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114032" y="2408301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Yes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8577072" y="2367153"/>
            <a:ext cx="3163824" cy="52006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622792" y="2408301"/>
            <a:ext cx="3072384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Yes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38912" y="2887218"/>
            <a:ext cx="182880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84632" y="2928366"/>
            <a:ext cx="173736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Mobile generation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2267712" y="2887218"/>
            <a:ext cx="164592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313432" y="2928366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Expo/RN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3913632" y="2887218"/>
            <a:ext cx="164592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959352" y="2928366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web-first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559552" y="2887218"/>
            <a:ext cx="150876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605272" y="2928366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Expo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7068312" y="2887218"/>
            <a:ext cx="150876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114032" y="2928366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Expo/RN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577072" y="2887218"/>
            <a:ext cx="3163824" cy="52006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622792" y="2928366"/>
            <a:ext cx="3072384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Expo/RN + Flutter + Kotlin + Swift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438912" y="3407283"/>
            <a:ext cx="182880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84632" y="3448431"/>
            <a:ext cx="173736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Generated DB direction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2267712" y="3407283"/>
            <a:ext cx="164592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313432" y="3448431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MongoDB common/default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3913632" y="3407283"/>
            <a:ext cx="164592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3959352" y="3448431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PostgreSQL / Supabase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5559552" y="3407283"/>
            <a:ext cx="150876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605272" y="3448431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JS/BaaS options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7068312" y="3407283"/>
            <a:ext cx="150876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114032" y="3448431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multiple services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8577072" y="3407283"/>
            <a:ext cx="3163824" cy="52006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8622792" y="3448431"/>
            <a:ext cx="3072384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Auto → PostgreSQL; adapters optional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438912" y="3927348"/>
            <a:ext cx="182880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84632" y="3968496"/>
            <a:ext cx="173736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Execution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2267712" y="3927348"/>
            <a:ext cx="164592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313432" y="3968496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full Linux K8s pods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3913632" y="3927348"/>
            <a:ext cx="164592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959352" y="3968496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managed cloud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5559552" y="3927348"/>
            <a:ext cx="150876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5605272" y="3968496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WebContainers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7068312" y="3927348"/>
            <a:ext cx="150876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7114032" y="3968496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cloud workspace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8577072" y="3927348"/>
            <a:ext cx="3163824" cy="52006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622792" y="3968496"/>
            <a:ext cx="3072384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tiered browser/Linux/microVM/Android/macOS/local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438912" y="4447413"/>
            <a:ext cx="182880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84632" y="4488561"/>
            <a:ext cx="173736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Device cost loop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2267712" y="4447413"/>
            <a:ext cx="164592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2313432" y="4488561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Expo Go/EAS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3913632" y="4447413"/>
            <a:ext cx="164592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3959352" y="4488561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N/A native core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5559552" y="4447413"/>
            <a:ext cx="150876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5605272" y="4488561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Expo QR/EAS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7068312" y="4447413"/>
            <a:ext cx="150876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7114032" y="4488561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Expo Go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8577072" y="4447413"/>
            <a:ext cx="3163824" cy="52006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8622792" y="4488561"/>
            <a:ext cx="3072384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browser first + QR + TestFlight + optional cloud devices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438912" y="4967478"/>
            <a:ext cx="182880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484632" y="5008626"/>
            <a:ext cx="173736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Long-run/project context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2267712" y="4967478"/>
            <a:ext cx="164592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2313432" y="5008626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200K + compression/forks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3913632" y="4967478"/>
            <a:ext cx="164592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3959352" y="5008626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project knowledge</a:t>
            </a:r>
            <a:endParaRPr lang="en-US" sz="780" dirty="0"/>
          </a:p>
        </p:txBody>
      </p:sp>
      <p:sp>
        <p:nvSpPr>
          <p:cNvPr id="88" name="Shape 86"/>
          <p:cNvSpPr/>
          <p:nvPr/>
        </p:nvSpPr>
        <p:spPr>
          <a:xfrm>
            <a:off x="5559552" y="4967478"/>
            <a:ext cx="150876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5605272" y="5008626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project knowledge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7068312" y="4967478"/>
            <a:ext cx="1508760" cy="52006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7114032" y="5008626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checkpoints/context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8577072" y="4967478"/>
            <a:ext cx="3163824" cy="52006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8622792" y="5008626"/>
            <a:ext cx="3072384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IR + code graph + runtime evidence + revalidated memory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438912" y="5487543"/>
            <a:ext cx="182880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484632" y="5528691"/>
            <a:ext cx="173736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Code ownership</a:t>
            </a:r>
            <a:endParaRPr lang="en-US" sz="780" dirty="0"/>
          </a:p>
        </p:txBody>
      </p:sp>
      <p:sp>
        <p:nvSpPr>
          <p:cNvPr id="96" name="Shape 94"/>
          <p:cNvSpPr/>
          <p:nvPr/>
        </p:nvSpPr>
        <p:spPr>
          <a:xfrm>
            <a:off x="2267712" y="5487543"/>
            <a:ext cx="164592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2313432" y="5528691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GitHub/export</a:t>
            </a:r>
            <a:endParaRPr lang="en-US" sz="780" dirty="0"/>
          </a:p>
        </p:txBody>
      </p:sp>
      <p:sp>
        <p:nvSpPr>
          <p:cNvPr id="98" name="Shape 96"/>
          <p:cNvSpPr/>
          <p:nvPr/>
        </p:nvSpPr>
        <p:spPr>
          <a:xfrm>
            <a:off x="3913632" y="5487543"/>
            <a:ext cx="164592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3959352" y="5528691"/>
            <a:ext cx="155448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Git sync/export</a:t>
            </a:r>
            <a:endParaRPr lang="en-US" sz="780" dirty="0"/>
          </a:p>
        </p:txBody>
      </p:sp>
      <p:sp>
        <p:nvSpPr>
          <p:cNvPr id="100" name="Shape 98"/>
          <p:cNvSpPr/>
          <p:nvPr/>
        </p:nvSpPr>
        <p:spPr>
          <a:xfrm>
            <a:off x="5559552" y="5487543"/>
            <a:ext cx="150876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5605272" y="5528691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GitHub</a:t>
            </a:r>
            <a:endParaRPr lang="en-US" sz="780" dirty="0"/>
          </a:p>
        </p:txBody>
      </p:sp>
      <p:sp>
        <p:nvSpPr>
          <p:cNvPr id="102" name="Shape 100"/>
          <p:cNvSpPr/>
          <p:nvPr/>
        </p:nvSpPr>
        <p:spPr>
          <a:xfrm>
            <a:off x="7068312" y="5487543"/>
            <a:ext cx="1508760" cy="52006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7114032" y="5528691"/>
            <a:ext cx="1417320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Git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8577072" y="5487543"/>
            <a:ext cx="3163824" cy="52006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8622792" y="5528691"/>
            <a:ext cx="3072384" cy="44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customer Git + formal handover</a:t>
            </a:r>
            <a:endParaRPr lang="en-US" sz="780" dirty="0"/>
          </a:p>
        </p:txBody>
      </p:sp>
      <p:sp>
        <p:nvSpPr>
          <p:cNvPr id="106" name="Text 104"/>
          <p:cNvSpPr/>
          <p:nvPr/>
        </p:nvSpPr>
        <p:spPr>
          <a:xfrm>
            <a:off x="530352" y="614476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4718F"/>
                </a:solidFill>
              </a:rPr>
              <a:t>Sources: Emergent enterprise/runtime/context docs; Lovable docs; Bolt support docs; Replit mobile/version-control docs. Revalidate before marketing.</a:t>
            </a:r>
            <a:endParaRPr lang="en-US" sz="660" dirty="0"/>
          </a:p>
        </p:txBody>
      </p:sp>
      <p:sp>
        <p:nvSpPr>
          <p:cNvPr id="107" name="Shape 105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COMPETITION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48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EMERGENT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Emergent is the strongest runtime benchmark we should learn from — not copy blindly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13232" y="1901952"/>
            <a:ext cx="64008" cy="31912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86968" y="2020824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Adopt patterns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6968" y="2423160"/>
            <a:ext cx="30358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real isolated Linux environments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warm capacity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reverse-proxied preview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durable workflows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immutable deployment runs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strong network/resource isolation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07408" y="187452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34840" y="1901952"/>
            <a:ext cx="64008" cy="31912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08576" y="2020824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Do not inherit constraints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08576" y="2423160"/>
            <a:ext cx="30358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one mobile framework as universal answer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one generated DB choice for every workload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cloud device/build when cheaper proof exists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competitor-specific runtime contracts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87452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165592" y="1901952"/>
            <a:ext cx="64008" cy="319125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39328" y="2020824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OmniStackAI extension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9328" y="2423160"/>
            <a:ext cx="30358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Application 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Flutter + native adapters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browser-first verification ladder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project memory/evidence graph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provider interfaces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client handover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614476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8B99AC"/>
                </a:solidFill>
              </a:rPr>
              <a:t>Emergent sources: emergent.sh/enterprise • /blog/real-environments-for-ai-agents-and-why-we-bet-on-kubernetes • /blog/why-we-rebuilt-our-deployment-engine • help.emergent.sh/context-limits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COMPETITION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49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CONTEXT MARKET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market is converging on “persistent knowledge + selective context”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OmniStackAI combines those ideas with structured IR, code graphs and runtime evidence.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1828800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85800" y="1856232"/>
            <a:ext cx="64008" cy="1243584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9536" y="1975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Emergent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9536" y="2377440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5C0D8"/>
                </a:solidFill>
              </a:rPr>
              <a:t>large working context + compression/forks + filtered subagents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62272" y="1856232"/>
            <a:ext cx="64008" cy="124358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36008" y="1975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Lovable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36008" y="2377440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5C0D8"/>
                </a:solidFill>
              </a:rPr>
              <a:t>project/workspace knowledge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8211312" y="1828800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38744" y="1856232"/>
            <a:ext cx="64008" cy="124358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0" y="1975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Bolt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2377440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5C0D8"/>
                </a:solidFill>
              </a:rPr>
              <a:t>Project Knowledge + context cleanup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58368" y="3456432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85800" y="3483864"/>
            <a:ext cx="64008" cy="1243584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59536" y="36027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Replit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" y="4005072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5C0D8"/>
                </a:solidFill>
              </a:rPr>
              <a:t>checkpoints + agent context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434840" y="3456432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462272" y="3483864"/>
            <a:ext cx="64008" cy="1243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36008" y="36027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Cursor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36008" y="4005072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5C0D8"/>
                </a:solidFill>
              </a:rPr>
              <a:t>indexed retrieval + rules + dynamic context discovery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211312" y="3456432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238744" y="3483864"/>
            <a:ext cx="64008" cy="12435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412480" y="36027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Windsurf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0" y="4005072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5C0D8"/>
                </a:solidFill>
              </a:rPr>
              <a:t>memories + rules + codebase RAG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3063240" y="5440680"/>
            <a:ext cx="6080760" cy="566928"/>
          </a:xfrm>
          <a:prstGeom prst="roundRect">
            <a:avLst>
              <a:gd name="adj" fmla="val 12903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118104" y="5495544"/>
            <a:ext cx="5971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OMNISTACKAI = IR + GIT + GRAPH + TESTS + RUNTIME + EVIDENCE-BACKED MEMORY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" y="614476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4718F"/>
                </a:solidFill>
              </a:rPr>
              <a:t>Sources: official public docs from Emergent, Lovable, Bolt, Replit, Cursor, Windsurf.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50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ROADMAP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Roadmap: reliability and unit economics first — breadth and enterprise scale later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2631186" cy="4114800"/>
          </a:xfrm>
          <a:prstGeom prst="roundRect">
            <a:avLst>
              <a:gd name="adj" fmla="val 2780"/>
            </a:avLst>
          </a:prstGeom>
          <a:solidFill>
            <a:srgbClr val="FFFFFF"/>
          </a:solidFill>
          <a:ln w="1651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04088" y="1993392"/>
            <a:ext cx="2320290" cy="347472"/>
          </a:xfrm>
          <a:prstGeom prst="roundRect">
            <a:avLst>
              <a:gd name="adj" fmla="val 21053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2048256"/>
            <a:ext cx="22105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BASIC / MVP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2487168"/>
            <a:ext cx="23020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Reliable software factory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" y="3163824"/>
            <a:ext cx="2210562" cy="2542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IR + adapters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browser-first preview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Expo/RN + Flutter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native beta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Context Engine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Temporal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Git/PR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real builds + security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344418" y="1828800"/>
            <a:ext cx="2631186" cy="4114800"/>
          </a:xfrm>
          <a:prstGeom prst="roundRect">
            <a:avLst>
              <a:gd name="adj" fmla="val 2780"/>
            </a:avLst>
          </a:prstGeom>
          <a:solidFill>
            <a:srgbClr val="FFFFFF"/>
          </a:solidFill>
          <a:ln w="1651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499866" y="1993392"/>
            <a:ext cx="2320290" cy="347472"/>
          </a:xfrm>
          <a:prstGeom prst="roundRect">
            <a:avLst>
              <a:gd name="adj" fmla="val 21053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554730" y="2048256"/>
            <a:ext cx="22105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09010" y="2487168"/>
            <a:ext cx="23020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Professional developer / agency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54730" y="3163824"/>
            <a:ext cx="2210562" cy="2542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native GA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cloud emulators/simulators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Local Agent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existing repo import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BYOK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store publishing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remote debug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client handover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140196" y="1828800"/>
            <a:ext cx="2631186" cy="4114800"/>
          </a:xfrm>
          <a:prstGeom prst="roundRect">
            <a:avLst>
              <a:gd name="adj" fmla="val 2780"/>
            </a:avLst>
          </a:prstGeom>
          <a:solidFill>
            <a:srgbClr val="FFFFFF"/>
          </a:solidFill>
          <a:ln w="1651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95644" y="1993392"/>
            <a:ext cx="2320290" cy="347472"/>
          </a:xfrm>
          <a:prstGeom prst="roundRect">
            <a:avLst>
              <a:gd name="adj" fmla="val 21053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50508" y="2048256"/>
            <a:ext cx="22105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ADVANCED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4788" y="2487168"/>
            <a:ext cx="23020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Enterprise flexibility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0508" y="3163824"/>
            <a:ext cx="2210562" cy="2542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microVMs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device cloud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BYOC/VPC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private models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data residency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multi-repo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policy-as-code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cross-platform migration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8935974" y="1828800"/>
            <a:ext cx="2631186" cy="4114800"/>
          </a:xfrm>
          <a:prstGeom prst="roundRect">
            <a:avLst>
              <a:gd name="adj" fmla="val 2780"/>
            </a:avLst>
          </a:prstGeom>
          <a:solidFill>
            <a:srgbClr val="FFFFFF"/>
          </a:solidFill>
          <a:ln w="1651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091422" y="1993392"/>
            <a:ext cx="2320290" cy="347472"/>
          </a:xfrm>
          <a:prstGeom prst="roundRect">
            <a:avLst>
              <a:gd name="adj" fmla="val 21053"/>
            </a:avLst>
          </a:prstGeom>
          <a:solidFill>
            <a:srgbClr val="22C55E"/>
          </a:solidFill>
          <a:ln w="762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146286" y="2048256"/>
            <a:ext cx="22105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00566" y="2487168"/>
            <a:ext cx="23020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Operational trust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6286" y="3163824"/>
            <a:ext cx="2210562" cy="2542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HA/DR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isolation proof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pen test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SOC2-ready controls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capacity/load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canary platform releases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signing hardening</a:t>
            </a:r>
            <a:endParaRPr lang="en-US" sz="980" dirty="0"/>
          </a:p>
          <a:p>
            <a:pPr marL="177800" indent="-1778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</a:rPr>
              <a:t>unit economics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51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MVP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MVP: ship the cost-aware engineering core before the expensive extras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Success = reliable verified generation across the primary target profiles.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1627632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40664" y="1682496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P0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44168" y="16824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</a:rPr>
              <a:t>Application IR v4 + adapter contracts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263640" y="1627632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18504" y="1682496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P0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22008" y="16824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</a:rPr>
              <a:t>Auto stack + database recommender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85800" y="2340864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40664" y="23957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P0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44168" y="2395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</a:rPr>
              <a:t>Next.js + Go/Python + PostgreSQL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6263640" y="2340864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18504" y="23957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P0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22008" y="2395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</a:rPr>
              <a:t>Expo/RN + Flutter stable; native beta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685800" y="3054096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40664" y="310896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P0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44168" y="3108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</a:rPr>
              <a:t>Instant Browser Preview always first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263640" y="3054096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 w="762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18504" y="310896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P0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22008" y="3108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</a:rPr>
              <a:t>QR/device delivery + real Android/iOS builds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85800" y="3767328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762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40664" y="3822192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P0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44168" y="38221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</a:rPr>
              <a:t>Context Engine + code intelligence v1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6263640" y="3767328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318504" y="3822192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P0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22008" y="38221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</a:rPr>
              <a:t>Temporal + event ledger + idempotency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685800" y="448056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40664" y="4535424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P0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44168" y="45354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</a:rPr>
              <a:t>Git task branches/worktrees/PR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6263640" y="448056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762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318504" y="4535424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P0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22008" y="45354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</a:rPr>
              <a:t>compile/test/security/blast-radius gates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685800" y="5193792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15C7A3"/>
          </a:solidFill>
          <a:ln w="762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40664" y="5248656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P1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344168" y="52486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</a:rPr>
              <a:t>immutable web/backend deployment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6263640" y="5193792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318504" y="5248656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</a:rPr>
              <a:t>P1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22008" y="52486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</a:rPr>
              <a:t>cost/usage dashboard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52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MID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MID: turn the factory into a professional developer + agency platform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94944" y="1847088"/>
            <a:ext cx="2542032" cy="3401568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22376" y="1874520"/>
            <a:ext cx="64008" cy="334670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1993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Native + Device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395728"/>
            <a:ext cx="219456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Kotlin/Swift GA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streamed Android/iOS sessions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Remote Debug Bridge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65576" y="1847088"/>
            <a:ext cx="2542032" cy="3401568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493008" y="1874520"/>
            <a:ext cx="64008" cy="3346704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66744" y="1993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Developer Workflow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66744" y="2395728"/>
            <a:ext cx="219456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existing repo import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Local Mac Agent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advanced build caching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6208" y="1847088"/>
            <a:ext cx="2542032" cy="3401568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64008" cy="33467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37376" y="1993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Governance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37376" y="2395728"/>
            <a:ext cx="219456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RBAC/review workflow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CODEOWNERS/protected paths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visual regression + DAST + SBOM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06840" y="1847088"/>
            <a:ext cx="2542032" cy="3401568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034272" y="1874520"/>
            <a:ext cx="64008" cy="3346704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208008" y="1993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Commercial Delivery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08008" y="2395728"/>
            <a:ext cx="219456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Play/TestFlight/App Store automation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client handover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BYOK + richer provider routing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5B5FEF"/>
                </a:solidFill>
              </a:rPr>
              <a:t>The goal is not “more features.” The goal is lower support cost, stronger fidelity and enterprise-ready workflows.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53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ADVANCED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ADVANCED: private execution, cross-repository orchestration and measured scale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Only add expensive infrastructure after the product proves the need.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1828800"/>
            <a:ext cx="3456432" cy="1344168"/>
          </a:xfrm>
          <a:prstGeom prst="roundRect">
            <a:avLst>
              <a:gd name="adj" fmla="val 5442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85800" y="1856232"/>
            <a:ext cx="64008" cy="1289304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9536" y="1975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execution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9536" y="23774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5C0D8"/>
                </a:solidFill>
              </a:rPr>
              <a:t>BYOC/VPC • private runners • regional scheduling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3456432" cy="1344168"/>
          </a:xfrm>
          <a:prstGeom prst="roundRect">
            <a:avLst>
              <a:gd name="adj" fmla="val 5442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62272" y="1856232"/>
            <a:ext cx="64008" cy="1289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36008" y="1975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Security isolation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36008" y="23774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5C0D8"/>
                </a:solidFill>
              </a:rPr>
              <a:t>microVM runner fleet • two-person critical approvals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11312" y="1828800"/>
            <a:ext cx="3456432" cy="1344168"/>
          </a:xfrm>
          <a:prstGeom prst="roundRect">
            <a:avLst>
              <a:gd name="adj" fmla="val 5442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38744" y="1856232"/>
            <a:ext cx="64008" cy="1289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0" y="1975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/ AI sovereignty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23774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5C0D8"/>
                </a:solidFill>
              </a:rPr>
              <a:t>private model endpoints • customer MCP • data residency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3502152"/>
            <a:ext cx="3456432" cy="1344168"/>
          </a:xfrm>
          <a:prstGeom prst="roundRect">
            <a:avLst>
              <a:gd name="adj" fmla="val 5442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85800" y="3529584"/>
            <a:ext cx="64008" cy="1289304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59536" y="36484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Repository scale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" y="40507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5C0D8"/>
                </a:solidFill>
              </a:rPr>
              <a:t>enterprise multi-repo • cross-repo impact analysis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34840" y="3502152"/>
            <a:ext cx="3456432" cy="1344168"/>
          </a:xfrm>
          <a:prstGeom prst="roundRect">
            <a:avLst>
              <a:gd name="adj" fmla="val 5442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462272" y="3529584"/>
            <a:ext cx="64008" cy="128930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36008" y="36484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Device quality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36008" y="40507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5C0D8"/>
                </a:solidFill>
              </a:rPr>
              <a:t>physical device cloud • matrix testing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11312" y="3502152"/>
            <a:ext cx="3456432" cy="1344168"/>
          </a:xfrm>
          <a:prstGeom prst="roundRect">
            <a:avLst>
              <a:gd name="adj" fmla="val 5442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238744" y="3529584"/>
            <a:ext cx="64008" cy="12893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412480" y="36484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Migration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0" y="40507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5C0D8"/>
                </a:solidFill>
              </a:rPr>
              <a:t>cross-platform → native guided migration + parity tests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54680" y="5532120"/>
            <a:ext cx="5852160" cy="530352"/>
          </a:xfrm>
          <a:prstGeom prst="roundRect">
            <a:avLst>
              <a:gd name="adj" fmla="val 13793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209544" y="5586984"/>
            <a:ext cx="5742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</a:rPr>
              <a:t>NO FEATURE EARNS ADVANCED STATUS WITHOUT MEASURED VALUE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54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PRODUCTION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PRODUCTION: readiness is a set of measured gates — not a feature count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94360" y="1719072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1792" y="1746504"/>
            <a:ext cx="64008" cy="932688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95528" y="186537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SLO/SLA + HA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410712" y="1719072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38144" y="1746504"/>
            <a:ext cx="64008" cy="932688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11880" y="186537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backup/restore + DR drills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27064" y="1719072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54496" y="1746504"/>
            <a:ext cx="64008" cy="9326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28232" y="186537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tenant isolation proof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043416" y="1719072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070848" y="1746504"/>
            <a:ext cx="64008" cy="93268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244584" y="186537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independent penetration test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94360" y="2980944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1792" y="3008376"/>
            <a:ext cx="64008" cy="9326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95528" y="3127248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SOC2-ready controls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3410712" y="2980944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438144" y="3008376"/>
            <a:ext cx="64008" cy="9326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611880" y="3127248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24×7 incident process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227064" y="2980944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254496" y="3008376"/>
            <a:ext cx="64008" cy="932688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28232" y="3127248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capacity/load tests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9043416" y="2980944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070848" y="3008376"/>
            <a:ext cx="64008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244584" y="3127248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spending caps / kill switches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94360" y="4242816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21792" y="4270248"/>
            <a:ext cx="64008" cy="932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95528" y="438912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release qualification + canary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3410712" y="4242816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3438144" y="4270248"/>
            <a:ext cx="64008" cy="93268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611880" y="438912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privacy retention/deletion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6227064" y="4242816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254496" y="4270248"/>
            <a:ext cx="64008" cy="9326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28232" y="438912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signing-key hardening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9043416" y="4242816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070848" y="4270248"/>
            <a:ext cx="64008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244584" y="438912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positive unit economics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1051560" y="5650992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Production readiness blocks launch when evidence is missing — even if the AI “believes” the system is ready.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55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TEAM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shape: platform + AI + runtime + mobile + security must develop together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This is an infrastructure/product company, not a prompt-only project.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8288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1856232"/>
            <a:ext cx="64008" cy="1362456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68096" y="197510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Product / Design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768096" y="237744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5C0D8"/>
                </a:solidFill>
              </a:rPr>
              <a:t>console UX • workflows • pricing • docs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419856" y="18288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447288" y="1856232"/>
            <a:ext cx="64008" cy="136245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21024" y="197510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Platform Backend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3621024" y="237744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5C0D8"/>
                </a:solidFill>
              </a:rPr>
              <a:t>Go control plane • Git • billing • audit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272784" y="18288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300216" y="1856232"/>
            <a:ext cx="64008" cy="1362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73952" y="197510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AI / Context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473952" y="237744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5C0D8"/>
                </a:solidFill>
              </a:rPr>
              <a:t>agent engine • Model Gateway • IR • evals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9125712" y="18288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153144" y="1856232"/>
            <a:ext cx="64008" cy="1362456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26880" y="197510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Runtime / SRE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9326880" y="237744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5C0D8"/>
                </a:solidFill>
              </a:rPr>
              <a:t>K8s • sandboxes • builds • Temporal • observability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66928" y="36576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94360" y="3685032"/>
            <a:ext cx="64008" cy="136245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68096" y="380390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Mobile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768096" y="420624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5C0D8"/>
                </a:solidFill>
              </a:rPr>
              <a:t>Expo/RN • Flutter • Kotlin • Swift • stores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3419856" y="36576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447288" y="3685032"/>
            <a:ext cx="64008" cy="1362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621024" y="380390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Security / Release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3621024" y="420624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5C0D8"/>
                </a:solidFill>
              </a:rPr>
              <a:t>threat model • secret/signing • scans • provenance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272784" y="36576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300216" y="3685032"/>
            <a:ext cx="64008" cy="1362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73952" y="380390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QA / Developer Experience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6473952" y="420624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5C0D8"/>
                </a:solidFill>
              </a:rPr>
              <a:t>E2E • visual • templates • repo health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9125712" y="36576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153144" y="3685032"/>
            <a:ext cx="64008" cy="136245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326880" y="380390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Enterprise / Solutions</a:t>
            </a:r>
            <a:endParaRPr lang="en-US" sz="1130" dirty="0"/>
          </a:p>
        </p:txBody>
      </p:sp>
      <p:sp>
        <p:nvSpPr>
          <p:cNvPr id="41" name="Text 39"/>
          <p:cNvSpPr/>
          <p:nvPr/>
        </p:nvSpPr>
        <p:spPr>
          <a:xfrm>
            <a:off x="9326880" y="420624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5C0D8"/>
                </a:solidFill>
              </a:rPr>
              <a:t>BYOC • SSO • migrations • client handover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56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MOAT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defensibility is the operating system around the model — not the model itself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828800" y="1691640"/>
            <a:ext cx="8458200" cy="530352"/>
          </a:xfrm>
          <a:prstGeom prst="roundRect">
            <a:avLst>
              <a:gd name="adj" fmla="val 10345"/>
            </a:avLst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965960" y="1828800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Application IR — portable product truth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2011680" y="2404872"/>
            <a:ext cx="8092440" cy="530352"/>
          </a:xfrm>
          <a:prstGeom prst="roundRect">
            <a:avLst>
              <a:gd name="adj" fmla="val 103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148840" y="2542032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Context / Memory Graph — long-lived project intelligence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2194560" y="3118104"/>
            <a:ext cx="7726680" cy="530352"/>
          </a:xfrm>
          <a:prstGeom prst="roundRect">
            <a:avLst>
              <a:gd name="adj" fmla="val 10345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331720" y="3255264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B1020"/>
                </a:solidFill>
              </a:rPr>
              <a:t>Change Impact + Verification — safe deterministic change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377440" y="3831336"/>
            <a:ext cx="7360920" cy="530352"/>
          </a:xfrm>
          <a:prstGeom prst="roundRect">
            <a:avLst>
              <a:gd name="adj" fmla="val 10345"/>
            </a:avLst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514600" y="3968496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Runtime / Device Abstraction — cost-aware cross-platform execution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560320" y="4544568"/>
            <a:ext cx="6995160" cy="530352"/>
          </a:xfrm>
          <a:prstGeom prst="roundRect">
            <a:avLst>
              <a:gd name="adj" fmla="val 10345"/>
            </a:avLst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697480" y="4681728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Template / Eval Data — quality by framework/version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2743200" y="5257800"/>
            <a:ext cx="6629400" cy="530352"/>
          </a:xfrm>
          <a:prstGeom prst="roundRect">
            <a:avLst>
              <a:gd name="adj" fmla="val 1034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880360" y="539496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Git / Release / Handover — trust + ownership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1005840" y="591616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5FEF"/>
                </a:solidFill>
              </a:rPr>
              <a:t>Models improve and commoditize. The factory’s memory, evaluations, policies, templates and deployment evidence compound.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57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RISKS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risks — and the architectural response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21792" y="1691640"/>
            <a:ext cx="1920240" cy="565785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" y="1737360"/>
            <a:ext cx="1847088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Risk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42032" y="1691640"/>
            <a:ext cx="3840480" cy="565785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78608" y="1737360"/>
            <a:ext cx="3767328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Failure mode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382512" y="1691640"/>
            <a:ext cx="5212080" cy="565785"/>
          </a:xfrm>
          <a:prstGeom prst="rect">
            <a:avLst/>
          </a:prstGeom>
          <a:solidFill>
            <a:srgbClr val="1A2742"/>
          </a:solidFill>
          <a:ln w="6350">
            <a:solidFill>
              <a:srgbClr val="2C3C5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19088" y="1737360"/>
            <a:ext cx="5138928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OmniStackAI response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" y="2257425"/>
            <a:ext cx="1920240" cy="56578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7512" y="2298573"/>
            <a:ext cx="182880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Model quality volatility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542032" y="2257425"/>
            <a:ext cx="3840480" cy="56578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587752" y="2298573"/>
            <a:ext cx="37490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bad patch / inconsistent plan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6382512" y="2257425"/>
            <a:ext cx="5212080" cy="56578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28232" y="2298573"/>
            <a:ext cx="51206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Model Gateway + evals + real compiler/tests + independent review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21792" y="2823210"/>
            <a:ext cx="1920240" cy="56578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67512" y="2864358"/>
            <a:ext cx="182880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Context drift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542032" y="2823210"/>
            <a:ext cx="3840480" cy="56578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587752" y="2864358"/>
            <a:ext cx="37490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agent forgets project decisions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382512" y="2823210"/>
            <a:ext cx="5212080" cy="56578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28232" y="2864358"/>
            <a:ext cx="51206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IR + evidence-backed memory + current-commit revalidation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21792" y="3388995"/>
            <a:ext cx="1920240" cy="56578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67512" y="3430143"/>
            <a:ext cx="182880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Untrusted execution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2542032" y="3388995"/>
            <a:ext cx="3840480" cy="56578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587752" y="3430143"/>
            <a:ext cx="37490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tenant compromise / data exfiltration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6382512" y="3388995"/>
            <a:ext cx="5212080" cy="56578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28232" y="3430143"/>
            <a:ext cx="51206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sandbox isolation + egress policy + short-lived credentials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21792" y="3954780"/>
            <a:ext cx="1920240" cy="56578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67512" y="3995928"/>
            <a:ext cx="182880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Mobile cost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2542032" y="3954780"/>
            <a:ext cx="3840480" cy="56578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587752" y="3995928"/>
            <a:ext cx="37490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Mac/device spend destroys margin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6382512" y="3954780"/>
            <a:ext cx="5212080" cy="56578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28232" y="3995928"/>
            <a:ext cx="51206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browser first + QR physical device + native fingerprint + Local Mac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621792" y="4520565"/>
            <a:ext cx="1920240" cy="56578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67512" y="4561713"/>
            <a:ext cx="182880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Vendor lock-in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2542032" y="4520565"/>
            <a:ext cx="3840480" cy="56578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2587752" y="4561713"/>
            <a:ext cx="37490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provider pricing/outage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6382512" y="4520565"/>
            <a:ext cx="5212080" cy="56578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28232" y="4561713"/>
            <a:ext cx="51206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Model/Runtime/Build/Git/Signing provider interfaces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621792" y="5086350"/>
            <a:ext cx="1920240" cy="56578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67512" y="5127498"/>
            <a:ext cx="182880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Store/signing risk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2542032" y="5086350"/>
            <a:ext cx="3840480" cy="56578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587752" y="5127498"/>
            <a:ext cx="37490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credential loss / unauthorized release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6382512" y="5086350"/>
            <a:ext cx="5212080" cy="565785"/>
          </a:xfrm>
          <a:prstGeom prst="rect">
            <a:avLst/>
          </a:prstGeom>
          <a:solidFill>
            <a:srgbClr val="10192C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428232" y="5127498"/>
            <a:ext cx="51206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isolated signing service + HITL + audit + provenance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621792" y="5652135"/>
            <a:ext cx="1920240" cy="565785"/>
          </a:xfrm>
          <a:prstGeom prst="rect">
            <a:avLst/>
          </a:prstGeom>
          <a:solidFill>
            <a:srgbClr val="1B2050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67512" y="5693283"/>
            <a:ext cx="182880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5C6FF"/>
                </a:solidFill>
              </a:rPr>
              <a:t>Architecture breadth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2542032" y="5652135"/>
            <a:ext cx="3840480" cy="56578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587752" y="5693283"/>
            <a:ext cx="37490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too many frameworks too early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6382512" y="5652135"/>
            <a:ext cx="5212080" cy="565785"/>
          </a:xfrm>
          <a:prstGeom prst="rect">
            <a:avLst/>
          </a:prstGeom>
          <a:solidFill>
            <a:srgbClr val="121C32"/>
          </a:solidFill>
          <a:ln w="5715">
            <a:solidFill>
              <a:srgbClr val="263753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428232" y="5693283"/>
            <a:ext cx="5120640" cy="49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C5DA"/>
                </a:solidFill>
              </a:rPr>
              <a:t>maturity labels + shared IR/adapters + phased rollout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INVESTOR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58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INVESTOR THESIS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Investor thesis: move from “AI coding” to “AI software operations”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7512" y="1856232"/>
            <a:ext cx="64008" cy="1362456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197510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Large market wedge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237744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natural language makes software creation accessible while engineering governance expands upmarket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434840" y="18288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62272" y="1856232"/>
            <a:ext cx="64008" cy="1362456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36008" y="197510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Better margins by design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36008" y="237744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context budgets + browser-first + physical devices + tiered runtimes attack the dominant variable costs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229600" y="18288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57032" y="1856232"/>
            <a:ext cx="64008" cy="136245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430768" y="197510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Enterprise path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30768" y="237744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Git ownership + BYOC + audit + policy + signing + handover remove major adoption blockers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67512" y="3593592"/>
            <a:ext cx="64008" cy="1362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1248" y="371246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Data/quality flywheel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" y="411480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evals, incidents, templates, build success and cost data improve routing and reliability by framework/version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434840" y="35661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462272" y="3593592"/>
            <a:ext cx="64008" cy="136245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636008" y="371246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Broader product scope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36008" y="411480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web + admin + backend + cross-platform + native supports more serious product categories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229600" y="35661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257032" y="3593592"/>
            <a:ext cx="64008" cy="1362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430768" y="371246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Durable platform moat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30768" y="411480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IR + memory + runtime + release provenance compounds beyond any single foundation model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DEVELOPER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59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DEVELOPER PROMISE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Developer promise: generated software should look and behave like professional software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AB5D0"/>
                </a:solidFill>
              </a:rPr>
              <a:t>The customer gets a normal repo, deterministic commands, real tests and an escape path.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1828800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85800" y="1856232"/>
            <a:ext cx="64008" cy="1271016"/>
          </a:xfrm>
          <a:prstGeom prst="rect">
            <a:avLst/>
          </a:prstGeom>
          <a:solidFill>
            <a:srgbClr val="5B5FEF"/>
          </a:solidFill>
          <a:ln w="1270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9536" y="1975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Normal repo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9536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5C0D8"/>
                </a:solidFill>
              </a:rPr>
              <a:t>Taskfile • lockfiles • README • CI • history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62272" y="1856232"/>
            <a:ext cx="64008" cy="127101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36008" y="1975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silent rewrites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36008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5C0D8"/>
                </a:solidFill>
              </a:rPr>
              <a:t>impact-scoped structured patches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211312" y="1828800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38744" y="1856232"/>
            <a:ext cx="64008" cy="1271016"/>
          </a:xfrm>
          <a:prstGeom prst="rect">
            <a:avLst/>
          </a:prstGeom>
          <a:solidFill>
            <a:srgbClr val="27C2F2"/>
          </a:solidFill>
          <a:ln w="1270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0" y="1975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Real toolchains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5C0D8"/>
                </a:solidFill>
              </a:rPr>
              <a:t>Gradle • Xcode • Flutter • TypeScript • Go/Python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58368" y="3493008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85800" y="3520440"/>
            <a:ext cx="64008" cy="1271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59536" y="3639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Source-of-truth artifacts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" y="40416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5C0D8"/>
                </a:solidFill>
              </a:rPr>
              <a:t>IR • contracts • migrations • ADRs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4434840" y="3493008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462272" y="3520440"/>
            <a:ext cx="64008" cy="1271016"/>
          </a:xfrm>
          <a:prstGeom prst="rect">
            <a:avLst/>
          </a:prstGeom>
          <a:solidFill>
            <a:srgbClr val="15C7A3"/>
          </a:solidFill>
          <a:ln w="12700">
            <a:solidFill>
              <a:srgbClr val="15C7A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36008" y="3639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Reproducible delivery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36008" y="40416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5C0D8"/>
                </a:solidFill>
              </a:rPr>
              <a:t>immutable artifacts + provenance + rollback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211312" y="3493008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141D34"/>
          </a:solidFill>
          <a:ln w="11430">
            <a:solidFill>
              <a:srgbClr val="283653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238744" y="3520440"/>
            <a:ext cx="64008" cy="1271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412480" y="3639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forced lock-in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0" y="40416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5C0D8"/>
                </a:solidFill>
              </a:rPr>
              <a:t>client Git + handover + provider abstractions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2057400" y="5605272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AI accelerates engineering. It does not replace engineering truth.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5B5FEF">
              <a:alpha val="18000"/>
            </a:srgbClr>
          </a:solidFill>
          <a:ln w="12700">
            <a:solidFill>
              <a:srgbClr val="5B5FE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27C2F2">
              <a:alpha val="12000"/>
            </a:srgbClr>
          </a:solidFill>
          <a:ln w="12700">
            <a:solidFill>
              <a:srgbClr val="27C2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CLOSE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785A8"/>
                </a:solidFill>
              </a:rPr>
              <a:t>60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7785A8"/>
                </a:solidFill>
              </a:rPr>
              <a:t>CLOSE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68112" y="822960"/>
            <a:ext cx="963778" cy="1088136"/>
          </a:xfrm>
          <a:prstGeom prst="hexagon">
            <a:avLst/>
          </a:prstGeom>
          <a:solidFill>
            <a:srgbClr val="5B5FEF"/>
          </a:solidFill>
          <a:ln w="12700">
            <a:solidFill>
              <a:srgbClr val="7C72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08015" y="1009498"/>
            <a:ext cx="683971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3740" dirty="0"/>
          </a:p>
        </p:txBody>
      </p:sp>
      <p:sp>
        <p:nvSpPr>
          <p:cNvPr id="10" name="Text 8"/>
          <p:cNvSpPr/>
          <p:nvPr/>
        </p:nvSpPr>
        <p:spPr>
          <a:xfrm>
            <a:off x="3794760" y="208483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OmniStackAI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023360" y="27432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C2F2"/>
                </a:solidFill>
              </a:rPr>
              <a:t>From Intent to Production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20240" y="3456432"/>
            <a:ext cx="8366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C7D2E7"/>
                </a:solidFill>
              </a:rPr>
              <a:t>Build fast. Verify cheaply. Escalate intelligently.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C7D2E7"/>
                </a:solidFill>
              </a:rPr>
              <a:t>Own the source. Ship with evidence. Maintain for years.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417320" y="4828032"/>
            <a:ext cx="2103120" cy="493776"/>
          </a:xfrm>
          <a:prstGeom prst="roundRect">
            <a:avLst>
              <a:gd name="adj" fmla="val 14815"/>
            </a:avLst>
          </a:prstGeom>
          <a:solidFill>
            <a:srgbClr val="27C2F2"/>
          </a:solidFill>
          <a:ln w="7620">
            <a:solidFill>
              <a:srgbClr val="27C2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72184" y="488289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BROWSER FIRST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813048" y="4828032"/>
            <a:ext cx="2103120" cy="493776"/>
          </a:xfrm>
          <a:prstGeom prst="roundRect">
            <a:avLst>
              <a:gd name="adj" fmla="val 14815"/>
            </a:avLst>
          </a:prstGeom>
          <a:solidFill>
            <a:srgbClr val="5B5FEF"/>
          </a:solidFill>
          <a:ln w="7620">
            <a:solidFill>
              <a:srgbClr val="5B5F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867912" y="488289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PROJECT MEMORY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208776" y="4828032"/>
            <a:ext cx="2103120" cy="493776"/>
          </a:xfrm>
          <a:prstGeom prst="roundRect">
            <a:avLst>
              <a:gd name="adj" fmla="val 14815"/>
            </a:avLst>
          </a:prstGeom>
          <a:solidFill>
            <a:srgbClr val="FF9F43"/>
          </a:solidFill>
          <a:ln w="762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63640" y="488289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020"/>
                </a:solidFill>
              </a:rPr>
              <a:t>REAL TOOLCHAINS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604504" y="4828032"/>
            <a:ext cx="2103120" cy="493776"/>
          </a:xfrm>
          <a:prstGeom prst="roundRect">
            <a:avLst>
              <a:gd name="adj" fmla="val 14815"/>
            </a:avLst>
          </a:prstGeom>
          <a:solidFill>
            <a:srgbClr val="22C55E"/>
          </a:solidFill>
          <a:ln w="762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59368" y="488289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CLIENT OWNERSHIP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286000" y="587959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7F8DAA"/>
                </a:solidFill>
              </a:rPr>
              <a:t>Working brand — complete trademark/domain/company/app-store clearance before external launch.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24304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5A7"/>
                </a:solidFill>
              </a:rPr>
              <a:t>OmniStackAI V5 • Architecture package updated from the V4 R&amp;D set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SOURCES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61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SOURCES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Selected public sources — competitor architecture and product behavior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34416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Use for internal research. Revalidate time-sensitive competitor facts before external claims.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1600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Emergent — enterprise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0" y="16002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FEF"/>
                </a:solidFill>
              </a:rPr>
              <a:t>https://emergent.sh/enterprise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77240" y="2011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Emergent — real environments / Kubernetes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0" y="20116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FEF"/>
                </a:solidFill>
              </a:rPr>
              <a:t>https://emergent.sh/blog/real-environments-for-ai-agents-and-why-we-bet-on-kubernetes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77724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Emergent — deployment / Temporal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0" y="24231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FEF"/>
                </a:solidFill>
              </a:rPr>
              <a:t>https://emergent.sh/blog/why-we-rebuilt-our-deployment-engine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77240" y="2834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Emergent — E3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0" y="28346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FEF"/>
                </a:solidFill>
              </a:rPr>
              <a:t>https://emergent.sh/blog/introducing-e-3-autonomous-app-building-on-emergent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777240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Emergent — context limits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0" y="32461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FEF"/>
                </a:solidFill>
              </a:rPr>
              <a:t>https://help.emergent.sh/context-limits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77240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Lovable — welcome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0" y="36576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FEF"/>
                </a:solidFill>
              </a:rPr>
              <a:t>https://docs.lovable.dev/introduction/welcome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77240" y="4069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Lovable Cloud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0" y="40690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FEF"/>
                </a:solidFill>
              </a:rPr>
              <a:t>https://docs.lovable.dev/features/cloud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77240" y="4480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Lovable — Supabase integration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0" y="44805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FEF"/>
                </a:solidFill>
              </a:rPr>
              <a:t>https://docs.lovable.dev/integrations/supabase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77240" y="4892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Bolt — browser support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0" y="4892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FEF"/>
                </a:solidFill>
              </a:rPr>
              <a:t>https://support.bolt.new/building/using-bolt/browser-support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777240" y="5303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Bolt — Expo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0" y="53035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FEF"/>
                </a:solidFill>
              </a:rPr>
              <a:t>https://support.bolt.new/integrations/expo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777240" y="5715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Replit — Expo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40480" y="57150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FEF"/>
                </a:solidFill>
              </a:rPr>
              <a:t>https://docs.replit.com/learn/mobile/expo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"/>
            <a:ext cx="1417320" cy="1417320"/>
          </a:xfrm>
          <a:prstGeom prst="ellipse">
            <a:avLst/>
          </a:prstGeom>
          <a:solidFill>
            <a:srgbClr val="DDE2FF">
              <a:alpha val="55000"/>
            </a:srgbClr>
          </a:solidFill>
          <a:ln w="12700">
            <a:solidFill>
              <a:srgbClr val="DDE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" y="5486400"/>
            <a:ext cx="1234440" cy="1234440"/>
          </a:xfrm>
          <a:prstGeom prst="ellipse">
            <a:avLst/>
          </a:prstGeom>
          <a:solidFill>
            <a:srgbClr val="E1F7FD">
              <a:alpha val="42000"/>
            </a:srgbClr>
          </a:solidFill>
          <a:ln w="12700">
            <a:solidFill>
              <a:srgbClr val="E1F7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34747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7EAFE"/>
          </a:solidFill>
          <a:ln w="7620">
            <a:solidFill>
              <a:srgbClr val="E7EAF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57784" y="402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FEF"/>
                </a:solidFill>
              </a:rPr>
              <a:t>SOURCES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61320" y="438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62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58200" y="448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94A3B8"/>
                </a:solidFill>
              </a:rPr>
              <a:t>SOURCES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Selected public sources — context, runtimes and foundation technologies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Replit — checkpoints</a:t>
            </a:r>
            <a:endParaRPr lang="en-US" sz="910" dirty="0"/>
          </a:p>
        </p:txBody>
      </p:sp>
      <p:sp>
        <p:nvSpPr>
          <p:cNvPr id="10" name="Text 8"/>
          <p:cNvSpPr/>
          <p:nvPr/>
        </p:nvSpPr>
        <p:spPr>
          <a:xfrm>
            <a:off x="3154680" y="16002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https://docs.replit.com/features/version-control/checkpoints-and-rollbacks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Cursor — dynamic context discovery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3154680" y="21671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https://cursor.com/blog/dynamic-context-discovery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685800" y="2734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Cursor — rules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3154680" y="273405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https://docs.cursor.com/context/rules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685800" y="33009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Cursor — security / codebase indexing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3154680" y="33009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https://www.cursor.com/security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685800" y="38679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Windsurf — memories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3154680" y="386791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https://docs.windsurf.com/windsurf/cascade/memories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685800" y="44348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Windsurf — context awareness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3154680" y="443484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https://docs.windsurf.com/context-awareness/overview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685800" y="5001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WebContainers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3154680" y="5001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https://webcontainers.io/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6355080" y="16002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Temporal</a:t>
            </a:r>
            <a:endParaRPr lang="en-US" sz="910" dirty="0"/>
          </a:p>
        </p:txBody>
      </p:sp>
      <p:sp>
        <p:nvSpPr>
          <p:cNvPr id="24" name="Text 22"/>
          <p:cNvSpPr/>
          <p:nvPr/>
        </p:nvSpPr>
        <p:spPr>
          <a:xfrm>
            <a:off x="8823960" y="16002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https://docs.temporal.io/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355080" y="21671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PostgreSQL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8823960" y="21671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https://www.postgresql.org/docs/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6355080" y="2734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pgvector</a:t>
            </a:r>
            <a:endParaRPr lang="en-US" sz="910" dirty="0"/>
          </a:p>
        </p:txBody>
      </p:sp>
      <p:sp>
        <p:nvSpPr>
          <p:cNvPr id="28" name="Text 26"/>
          <p:cNvSpPr/>
          <p:nvPr/>
        </p:nvSpPr>
        <p:spPr>
          <a:xfrm>
            <a:off x="8823960" y="273405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https://github.com/pgvector/pgvector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6355080" y="33009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OWASP Top 10</a:t>
            </a:r>
            <a:endParaRPr lang="en-US" sz="910" dirty="0"/>
          </a:p>
        </p:txBody>
      </p:sp>
      <p:sp>
        <p:nvSpPr>
          <p:cNvPr id="30" name="Text 28"/>
          <p:cNvSpPr/>
          <p:nvPr/>
        </p:nvSpPr>
        <p:spPr>
          <a:xfrm>
            <a:off x="8823960" y="33009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https://owasp.org/www-project-top-ten/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6355080" y="38679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OpenHands</a:t>
            </a:r>
            <a:endParaRPr lang="en-US" sz="910" dirty="0"/>
          </a:p>
        </p:txBody>
      </p:sp>
      <p:sp>
        <p:nvSpPr>
          <p:cNvPr id="32" name="Text 30"/>
          <p:cNvSpPr/>
          <p:nvPr/>
        </p:nvSpPr>
        <p:spPr>
          <a:xfrm>
            <a:off x="8823960" y="386791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https://github.com/All-Hands-AI/OpenHands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6355080" y="44348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E2B</a:t>
            </a:r>
            <a:endParaRPr lang="en-US" sz="910" dirty="0"/>
          </a:p>
        </p:txBody>
      </p:sp>
      <p:sp>
        <p:nvSpPr>
          <p:cNvPr id="34" name="Text 32"/>
          <p:cNvSpPr/>
          <p:nvPr/>
        </p:nvSpPr>
        <p:spPr>
          <a:xfrm>
            <a:off x="8823960" y="443484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https://e2b.dev/docs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6355080" y="5001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Daytona</a:t>
            </a:r>
            <a:endParaRPr lang="en-US" sz="910" dirty="0"/>
          </a:p>
        </p:txBody>
      </p:sp>
      <p:sp>
        <p:nvSpPr>
          <p:cNvPr id="36" name="Text 34"/>
          <p:cNvSpPr/>
          <p:nvPr/>
        </p:nvSpPr>
        <p:spPr>
          <a:xfrm>
            <a:off x="8823960" y="5001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5FEF"/>
                </a:solidFill>
              </a:rPr>
              <a:t>https://www.daytona.io/docs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2103120" y="5715000"/>
            <a:ext cx="80010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30552" y="5742432"/>
            <a:ext cx="64008" cy="47548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304288" y="5861304"/>
            <a:ext cx="7653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Brand note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304288" y="6263640"/>
            <a:ext cx="7653528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OmniStackAI is a working name selected for this architecture package; legal/trademark/domain/app-store clearance remains mandatory.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02920" y="6419088"/>
            <a:ext cx="10835640" cy="0"/>
          </a:xfrm>
          <a:prstGeom prst="line">
            <a:avLst/>
          </a:prstGeom>
          <a:noFill/>
          <a:ln w="8890">
            <a:solidFill>
              <a:srgbClr val="D8E1EE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30352" y="6473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B"/>
                </a:solidFill>
              </a:rPr>
              <a:t>OmniStackAI V5 • Working brand • From Intent to Production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CC7FF"/>
                </a:solidFill>
              </a:defRPr>
            </a:pPr>
            <a:r>
              <a:t>V6 R&amp;D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D"/>
                </a:solidFill>
              </a:defRPr>
            </a:pPr>
            <a:r>
              <a:t>V6 closes the “AI can start, stop and resume”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3584448" cy="4617720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792224"/>
            <a:ext cx="3255264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Already strong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IR • change impact • real toolchains • durable runtime • project memory • security • Git • immutable releases • cost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8536" y="1645920"/>
            <a:ext cx="3584448" cy="4617720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3127" y="1792224"/>
            <a:ext cx="3255264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Gap closed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Portable agent instructions, deterministic project/task state, exact handoff, environment contract and Phase 0 bootstrap.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4152" y="1645920"/>
            <a:ext cx="3584448" cy="4617720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1792224"/>
            <a:ext cx="3255264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Measure before scale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Sandbox economics, model quality, crash-resume, tenant isolation, build success and deployment recovery need benchmark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791A5"/>
                </a:solidFill>
              </a:defRPr>
            </a:pPr>
            <a:r>
              <a:t>OmniStackAI V6 • From Intent to Production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962F0"/>
                </a:solidFill>
              </a:defRPr>
            </a:pPr>
            <a:r>
              <a:t>MODEL FABRIC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E37"/>
                </a:solidFill>
              </a:defRPr>
            </a:pPr>
            <a:r>
              <a:t>One model fabric: local Ollama/Qwen + cloud APIs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3584448" cy="2208276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792224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23D"/>
                </a:solidFill>
              </a:defRPr>
            </a:pPr>
            <a:r>
              <a:t>Same contract</a:t>
            </a:r>
          </a:p>
          <a:p>
            <a:pPr>
              <a:spcBef>
                <a:spcPts val="700"/>
              </a:spcBef>
              <a:defRPr sz="1050">
                <a:solidFill>
                  <a:srgbClr val="535E77"/>
                </a:solidFill>
              </a:defRPr>
            </a:pPr>
            <a:r>
              <a:t>Agent → Model Gateway → ModelProvider. Provider SDK types never leak into product/domain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8536" y="1645920"/>
            <a:ext cx="3584448" cy="2208276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3127" y="1792224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23D"/>
                </a:solidFill>
              </a:defRPr>
            </a:pPr>
            <a:r>
              <a:t>Local profile</a:t>
            </a:r>
          </a:p>
          <a:p>
            <a:pPr>
              <a:spcBef>
                <a:spcPts val="700"/>
              </a:spcBef>
              <a:defRPr sz="1050">
                <a:solidFill>
                  <a:srgbClr val="535E77"/>
                </a:solidFill>
              </a:defRPr>
            </a:pPr>
            <a:r>
              <a:t>Ollama-compatible endpoint with health/model discovery, streaming, context configuration, capability checks and resource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4152" y="1645920"/>
            <a:ext cx="3584448" cy="2208276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1792224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23D"/>
                </a:solidFill>
              </a:defRPr>
            </a:pPr>
            <a:r>
              <a:t>Cloud / BYOK</a:t>
            </a:r>
          </a:p>
          <a:p>
            <a:pPr>
              <a:spcBef>
                <a:spcPts val="700"/>
              </a:spcBef>
              <a:defRPr sz="1050">
                <a:solidFill>
                  <a:srgbClr val="535E77"/>
                </a:solidFill>
              </a:defRPr>
            </a:pPr>
            <a:r>
              <a:t>OpenAI, Anthropic and future providers use brokered keys, policy routing, budgets, fallback and circuit breakers.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55364"/>
            <a:ext cx="3584448" cy="2208276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201668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23D"/>
                </a:solidFill>
              </a:defRPr>
            </a:pPr>
            <a:r>
              <a:t>Quality first</a:t>
            </a:r>
          </a:p>
          <a:p>
            <a:pPr>
              <a:spcBef>
                <a:spcPts val="700"/>
              </a:spcBef>
              <a:defRPr sz="1050">
                <a:solidFill>
                  <a:srgbClr val="535E77"/>
                </a:solidFill>
              </a:defRPr>
            </a:pPr>
            <a:r>
              <a:t>A local model is selected only after task-class evals prove tools, structured output and coding acceptance thresholds.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4055364"/>
            <a:ext cx="3584448" cy="2208276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7" y="4201668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23D"/>
                </a:solidFill>
              </a:defRPr>
            </a:pPr>
            <a:r>
              <a:t>Context-aware</a:t>
            </a:r>
          </a:p>
          <a:p>
            <a:pPr>
              <a:spcBef>
                <a:spcPts val="700"/>
              </a:spcBef>
              <a:defRPr sz="1050">
                <a:solidFill>
                  <a:srgbClr val="535E77"/>
                </a:solidFill>
              </a:defRPr>
            </a:pPr>
            <a:r>
              <a:t>Budget system/tools/output + task Context Pack per exact model configuration; never silently drop critical contracts.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4055364"/>
            <a:ext cx="3584448" cy="2208276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4201668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23D"/>
                </a:solidFill>
              </a:defRPr>
            </a:pPr>
            <a:r>
              <a:t>Economic target</a:t>
            </a:r>
          </a:p>
          <a:p>
            <a:pPr>
              <a:spcBef>
                <a:spcPts val="700"/>
              </a:spcBef>
              <a:defRPr sz="1050">
                <a:solidFill>
                  <a:srgbClr val="535E77"/>
                </a:solidFill>
              </a:defRPr>
            </a:pPr>
            <a:r>
              <a:t>Optimize cost per successful accepted verified change — not minimum token spend in isolation.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791A5"/>
                </a:solidFill>
              </a:defRPr>
            </a:pPr>
            <a:r>
              <a:t>OmniStackAI V6 • From Intent to Production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CC7FF"/>
                </a:solidFill>
              </a:defRPr>
            </a:pPr>
            <a:r>
              <a:t>AI + DEVELOPER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D"/>
                </a:solidFill>
              </a:defRPr>
            </a:pPr>
            <a:r>
              <a:t>The repository tells every coding agent where to 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3584448" cy="2208276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792224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Portable contract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AGENTS.md + START_HERE + IR/ADRs + Taskfile are the common path across coding agents and humans.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8536" y="1645920"/>
            <a:ext cx="3584448" cy="2208276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3127" y="1792224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Tool adapters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CLAUDE.md and .cursor/rules add tool-specific ergonomics without becoming separate architecture 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4152" y="1645920"/>
            <a:ext cx="3584448" cy="2208276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1792224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Durable state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PROJECT_STATE.yaml + CURRENT_TASK.yaml + HANDOFF.md capture phase, task, branch, SHA, proof, blockers and next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55364"/>
            <a:ext cx="3584448" cy="2208276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201668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Start protocol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Read state → verify Git → task doctor → baseline proof → restate impact → edit.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4055364"/>
            <a:ext cx="3584448" cy="2208276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7" y="4201668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Stop protocol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Update state/work log/handoff; preserve exact next command; commit stable work when valid.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4055364"/>
            <a:ext cx="3584448" cy="2208276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4201668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Resume protocol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Git wins on disagreement. Re-run last proof and continue next_action — never replay months of chat.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791A5"/>
                </a:solidFill>
              </a:defRPr>
            </a:pPr>
            <a:r>
              <a:t>OmniStackAI V6 • From Intent to Production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962F0"/>
                </a:solidFill>
              </a:defRPr>
            </a:pPr>
            <a:r>
              <a:t>EXECUTION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E37"/>
                </a:solidFill>
              </a:defRPr>
            </a:pPr>
            <a:r>
              <a:t>Phase 0 makes the monorepo executable before agents build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3584448" cy="2208276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792224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23D"/>
                </a:solidFill>
              </a:defRPr>
            </a:pPr>
            <a:r>
              <a:t>01 • Repo</a:t>
            </a:r>
          </a:p>
          <a:p>
            <a:pPr>
              <a:spcBef>
                <a:spcPts val="700"/>
              </a:spcBef>
              <a:defRPr sz="1050">
                <a:solidFill>
                  <a:srgbClr val="535E77"/>
                </a:solidFill>
              </a:defRPr>
            </a:pPr>
            <a:r>
              <a:t>Monorepo, pinned toolchains, lockfiles, module boundaries and ADR-0001.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8536" y="1645920"/>
            <a:ext cx="3584448" cy="2208276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3127" y="1792224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23D"/>
                </a:solidFill>
              </a:defRPr>
            </a:pPr>
            <a:r>
              <a:t>02 • Onboarding</a:t>
            </a:r>
          </a:p>
          <a:p>
            <a:pPr>
              <a:spcBef>
                <a:spcPts val="700"/>
              </a:spcBef>
              <a:defRPr sz="1050">
                <a:solidFill>
                  <a:srgbClr val="535E77"/>
                </a:solidFill>
              </a:defRPr>
            </a:pPr>
            <a:r>
              <a:t>AGENTS.md, START_HERE, state/handoff files and deterministic Taskfile commands.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4152" y="1645920"/>
            <a:ext cx="3584448" cy="2208276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1792224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23D"/>
                </a:solidFill>
              </a:defRPr>
            </a:pPr>
            <a:r>
              <a:t>03 • Safety</a:t>
            </a:r>
          </a:p>
          <a:p>
            <a:pPr>
              <a:spcBef>
                <a:spcPts val="700"/>
              </a:spcBef>
              <a:defRPr sz="1050">
                <a:solidFill>
                  <a:srgbClr val="535E77"/>
                </a:solidFill>
              </a:defRPr>
            </a:pPr>
            <a:r>
              <a:t>Typed config, secret exclusions, protected main, CODEOWNERS, CI skeleton and audit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55364"/>
            <a:ext cx="3584448" cy="2208276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201668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23D"/>
                </a:solidFill>
              </a:defRPr>
            </a:pPr>
            <a:r>
              <a:t>04 • Providers</a:t>
            </a:r>
          </a:p>
          <a:p>
            <a:pPr>
              <a:spcBef>
                <a:spcPts val="700"/>
              </a:spcBef>
              <a:defRPr sz="1050">
                <a:solidFill>
                  <a:srgbClr val="535E77"/>
                </a:solidFill>
              </a:defRPr>
            </a:pPr>
            <a:r>
              <a:t>ModelProvider registry + Ollama/local + cloud adapters behind one gateway.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4055364"/>
            <a:ext cx="3584448" cy="2208276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7" y="4201668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23D"/>
                </a:solidFill>
              </a:defRPr>
            </a:pPr>
            <a:r>
              <a:t>05 • MVP</a:t>
            </a:r>
          </a:p>
          <a:p>
            <a:pPr>
              <a:spcBef>
                <a:spcPts val="700"/>
              </a:spcBef>
              <a:defRPr sz="1050">
                <a:solidFill>
                  <a:srgbClr val="535E77"/>
                </a:solidFill>
              </a:defRPr>
            </a:pPr>
            <a:r>
              <a:t>IR → task graph → scoped patch → verify → preview → PR → staged deploy.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4055364"/>
            <a:ext cx="3584448" cy="2208276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4201668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7223D"/>
                </a:solidFill>
              </a:defRPr>
            </a:pPr>
            <a:r>
              <a:t>Exit gate</a:t>
            </a:r>
          </a:p>
          <a:p>
            <a:pPr>
              <a:spcBef>
                <a:spcPts val="700"/>
              </a:spcBef>
              <a:defRPr sz="1050">
                <a:solidFill>
                  <a:srgbClr val="535E77"/>
                </a:solidFill>
              </a:defRPr>
            </a:pPr>
            <a:r>
              <a:t>A fresh human or AI can clone, doctor, bootstrap, verify, identify next task and resume without old chat.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791A5"/>
                </a:solidFill>
              </a:defRPr>
            </a:pPr>
            <a:r>
              <a:t>OmniStackAI V6 • From Intent to Production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CC7FF"/>
                </a:solidFill>
              </a:defRPr>
            </a:pPr>
            <a:r>
              <a:t>V6 PRODUCTION 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7F9FD"/>
                </a:solidFill>
              </a:defRPr>
            </a:pPr>
            <a:r>
              <a:t>Production means evidence, not feature count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3584448" cy="2208276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792224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Release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Build once; promote immutable digest; canary/blue-green; retain known-good rollback artifact.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8536" y="1645920"/>
            <a:ext cx="3584448" cy="2208276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3127" y="1792224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Data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Expand/migrate/contract, backward compatibility, resumable backfills, verified backups and roll-forward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4152" y="1645920"/>
            <a:ext cx="3584448" cy="2208276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1792224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Agent security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Prompt/tool poisoning, secret exfiltration, sandbox escape, provider compromise and replay/approval confusion are tested.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55364"/>
            <a:ext cx="3584448" cy="2208276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201668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Model assurance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Provider conformance, local endpoint security, task-class quality evals and failover semantics are proven.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4055364"/>
            <a:ext cx="3584448" cy="2208276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7" y="4201668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Operations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SLOs/error budgets, alerts/on-call, DR drills, cost kill switches, privacy workflows and incident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4055364"/>
            <a:ext cx="3584448" cy="2208276"/>
          </a:xfrm>
          <a:prstGeom prst="roundRect">
            <a:avLst/>
          </a:prstGeom>
          <a:solidFill>
            <a:srgbClr val="18233E"/>
          </a:solidFill>
          <a:ln>
            <a:solidFill>
              <a:srgbClr val="33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4201668"/>
            <a:ext cx="3255264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Business result</a:t>
            </a:r>
          </a:p>
          <a:p>
            <a:pPr>
              <a:spcBef>
                <a:spcPts val="700"/>
              </a:spcBef>
              <a:defRPr sz="1050">
                <a:solidFill>
                  <a:srgbClr val="CDD7EB"/>
                </a:solidFill>
              </a:defRPr>
            </a:pPr>
            <a:r>
              <a:t>Smooth client experience with customer-owned source, lower verified-change cost and deterministic long-term maintainability.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791A5"/>
                </a:solidFill>
              </a:defRPr>
            </a:pPr>
            <a:r>
              <a:t>OmniStackAI V6 • From Intent to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VioraForge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VioraForge — From Intent to Production</dc:title>
  <dc:subject>VioraForge V5 Platform Architecture, Product and Investment Blueprint</dc:subject>
  <dc:creator>OpenAI</dc:creator>
  <cp:lastModifiedBy>OpenAI</cp:lastModifiedBy>
  <cp:revision>1</cp:revision>
  <dcterms:created xsi:type="dcterms:W3CDTF">2026-09-03T20:33:01Z</dcterms:created>
  <dcterms:modified xsi:type="dcterms:W3CDTF">2026-09-03T20:33:01Z</dcterms:modified>
</cp:coreProperties>
</file>